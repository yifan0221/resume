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336" r:id="rId4"/>
    <p:sldId id="258" r:id="rId5"/>
    <p:sldId id="267" r:id="rId6"/>
    <p:sldId id="334" r:id="rId7"/>
    <p:sldId id="268" r:id="rId8"/>
    <p:sldId id="269" r:id="rId9"/>
    <p:sldId id="326" r:id="rId10"/>
    <p:sldId id="329" r:id="rId11"/>
    <p:sldId id="270" r:id="rId12"/>
    <p:sldId id="275" r:id="rId13"/>
    <p:sldId id="292" r:id="rId14"/>
    <p:sldId id="294" r:id="rId15"/>
    <p:sldId id="278" r:id="rId16"/>
    <p:sldId id="327" r:id="rId17"/>
    <p:sldId id="277" r:id="rId18"/>
    <p:sldId id="328" r:id="rId19"/>
    <p:sldId id="296" r:id="rId20"/>
    <p:sldId id="324" r:id="rId21"/>
    <p:sldId id="297" r:id="rId22"/>
    <p:sldId id="318" r:id="rId23"/>
    <p:sldId id="325" r:id="rId24"/>
    <p:sldId id="299" r:id="rId25"/>
    <p:sldId id="302" r:id="rId26"/>
    <p:sldId id="333" r:id="rId27"/>
    <p:sldId id="337" r:id="rId28"/>
    <p:sldId id="341" r:id="rId29"/>
    <p:sldId id="339" r:id="rId30"/>
    <p:sldId id="343" r:id="rId31"/>
    <p:sldId id="290" r:id="rId32"/>
    <p:sldId id="285" r:id="rId33"/>
    <p:sldId id="280" r:id="rId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091" autoAdjust="0"/>
  </p:normalViewPr>
  <p:slideViewPr>
    <p:cSldViewPr>
      <p:cViewPr>
        <p:scale>
          <a:sx n="100" d="100"/>
          <a:sy n="100" d="100"/>
        </p:scale>
        <p:origin x="-946" y="30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9" name="流程圖: 程序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流程圖: 程序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64B834D-A7A3-406C-AB44-7367F3DDE974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E1C31EF-BC16-49D1-96B1-DB4E8F860C1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9.xml"/><Relationship Id="rId7" Type="http://schemas.openxmlformats.org/officeDocument/2006/relationships/slide" Target="slide19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10" Type="http://schemas.openxmlformats.org/officeDocument/2006/relationships/slide" Target="slide31.xml"/><Relationship Id="rId4" Type="http://schemas.openxmlformats.org/officeDocument/2006/relationships/slide" Target="slide11.xml"/><Relationship Id="rId9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s://github.com/YiFan0221/Resume/blob/main/STAR-ZH.md#section-1-1-2-sta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iFan0221/Resume/blob/main/STAR-ZH.md#section-1-1-2-star" TargetMode="External"/><Relationship Id="rId2" Type="http://schemas.openxmlformats.org/officeDocument/2006/relationships/hyperlink" Target="https://www.freeway.gov.tw/Upload/Html/2017410162/page07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s://www.freeway.gov.tw/Upload/Html/2017410162/page07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hyperlink" Target="https://github.com/YiFan0221/Resume/blob/main/STAR-ZH.md#section-1-1-1-star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github.com/YiFan0221/Resume/blob/main/STAR-ZH.md#section-1-2-1-star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github.com/YiFan0221/Resume/blob/main/STAR-ZH.md#section-1-2-2-star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github.com/YiFan0221/Resume/blob/main/STAR-ZH.md#section-1-2-3-star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github.com/YiFan0221/Resume/blob/main/STAR-ZH.md#section-1-3-1-star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github.com/YiFan0221/Resume/blob/main/STAR-ZH.md#section-1-4-1-star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hyperlink" Target="https://github.com/YiFan0221/YiFanServer" TargetMode="External"/><Relationship Id="rId4" Type="http://schemas.openxmlformats.org/officeDocument/2006/relationships/hyperlink" Target="https://github.com/YiFan0221/TeaOrFish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/>
              <a:t>個人</a:t>
            </a:r>
            <a:r>
              <a:rPr lang="zh-TW" altLang="en-US" sz="3600" dirty="0"/>
              <a:t>簡報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4099216"/>
          </a:xfrm>
        </p:spPr>
        <p:txBody>
          <a:bodyPr>
            <a:normAutofit/>
          </a:bodyPr>
          <a:lstStyle/>
          <a:p>
            <a:pPr algn="r"/>
            <a:endParaRPr lang="en-US" altLang="zh-TW" dirty="0"/>
          </a:p>
          <a:p>
            <a:pPr algn="r"/>
            <a:endParaRPr lang="en-US" altLang="zh-TW" dirty="0" smtClean="0"/>
          </a:p>
          <a:p>
            <a:pPr algn="r"/>
            <a:endParaRPr lang="en-US" altLang="zh-TW" dirty="0"/>
          </a:p>
          <a:p>
            <a:pPr algn="r"/>
            <a:endParaRPr lang="en-US" altLang="zh-TW" dirty="0" smtClean="0"/>
          </a:p>
          <a:p>
            <a:pPr algn="r"/>
            <a:endParaRPr lang="en-US" altLang="zh-TW" dirty="0"/>
          </a:p>
          <a:p>
            <a:pPr algn="r"/>
            <a:endParaRPr lang="en-US" altLang="zh-TW" dirty="0" smtClean="0"/>
          </a:p>
          <a:p>
            <a:pPr algn="r"/>
            <a:endParaRPr lang="en-US" altLang="zh-TW" dirty="0"/>
          </a:p>
          <a:p>
            <a:pPr algn="r"/>
            <a:r>
              <a:rPr lang="zh-TW" altLang="en-US" dirty="0" smtClean="0"/>
              <a:t>講者</a:t>
            </a:r>
            <a:r>
              <a:rPr lang="en-US" altLang="zh-TW" dirty="0" smtClean="0"/>
              <a:t>:</a:t>
            </a:r>
            <a:r>
              <a:rPr lang="zh-TW" altLang="en-US" dirty="0" smtClean="0"/>
              <a:t>許逸帆</a:t>
            </a:r>
            <a:endParaRPr lang="en-US" altLang="zh-TW" dirty="0" smtClean="0"/>
          </a:p>
          <a:p>
            <a:pPr algn="r"/>
            <a:endParaRPr lang="en-US" altLang="zh-TW" dirty="0"/>
          </a:p>
          <a:p>
            <a:pPr algn="r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16416" y="6309320"/>
            <a:ext cx="629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hlinkClick r:id="rId2" action="ppaction://hlinksldjump"/>
              </a:rPr>
              <a:t>Back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3912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總覽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03648" y="1268760"/>
            <a:ext cx="5904656" cy="5328592"/>
          </a:xfrm>
        </p:spPr>
        <p:txBody>
          <a:bodyPr>
            <a:noAutofit/>
          </a:bodyPr>
          <a:lstStyle/>
          <a:p>
            <a:r>
              <a:rPr lang="zh-TW" altLang="en-US" sz="1200" b="1" dirty="0" smtClean="0">
                <a:latin typeface="+mn-ea"/>
              </a:rPr>
              <a:t>綠</a:t>
            </a:r>
            <a:r>
              <a:rPr lang="zh-TW" altLang="en-US" sz="1200" b="1" dirty="0">
                <a:latin typeface="+mn-ea"/>
              </a:rPr>
              <a:t>節能智控公司</a:t>
            </a:r>
            <a:r>
              <a:rPr lang="en-US" altLang="zh-TW" sz="1200" b="1" dirty="0">
                <a:latin typeface="+mn-ea"/>
              </a:rPr>
              <a:t>(HIPOWER)  </a:t>
            </a:r>
            <a:r>
              <a:rPr lang="en-US" altLang="zh-TW" sz="1200" b="1" dirty="0" smtClean="0">
                <a:latin typeface="+mn-ea"/>
              </a:rPr>
              <a:t>- </a:t>
            </a:r>
            <a:r>
              <a:rPr lang="zh-TW" altLang="en-US" sz="1200" b="1" dirty="0" smtClean="0">
                <a:latin typeface="+mn-ea"/>
              </a:rPr>
              <a:t>軟</a:t>
            </a:r>
            <a:r>
              <a:rPr lang="zh-TW" altLang="en-US" sz="1200" b="1" dirty="0">
                <a:latin typeface="+mn-ea"/>
              </a:rPr>
              <a:t>韌</a:t>
            </a:r>
            <a:r>
              <a:rPr lang="zh-TW" altLang="en-US" sz="1200" b="1" dirty="0" smtClean="0">
                <a:latin typeface="+mn-ea"/>
              </a:rPr>
              <a:t>整合</a:t>
            </a:r>
            <a:r>
              <a:rPr lang="en-US" altLang="zh-TW" sz="1200" b="1" dirty="0">
                <a:latin typeface="+mn-ea"/>
              </a:rPr>
              <a:t> </a:t>
            </a:r>
            <a:r>
              <a:rPr lang="en-US" altLang="zh-TW" sz="1200" b="1" dirty="0" err="1" smtClean="0">
                <a:latin typeface="+mn-ea"/>
              </a:rPr>
              <a:t>IoT</a:t>
            </a:r>
            <a:r>
              <a:rPr lang="zh-TW" altLang="en-US" sz="1200" b="1" dirty="0" smtClean="0">
                <a:latin typeface="+mn-ea"/>
              </a:rPr>
              <a:t>視覺</a:t>
            </a:r>
            <a:r>
              <a:rPr lang="zh-TW" altLang="en-US" sz="1200" b="1" dirty="0">
                <a:latin typeface="+mn-ea"/>
              </a:rPr>
              <a:t>分析</a:t>
            </a:r>
            <a:endParaRPr lang="en-US" altLang="zh-TW" sz="1200" b="1" dirty="0">
              <a:latin typeface="+mn-ea"/>
            </a:endParaRPr>
          </a:p>
          <a:p>
            <a:pPr lvl="1"/>
            <a:r>
              <a:rPr lang="zh-TW" altLang="en-US" sz="1200" b="1" dirty="0" smtClean="0">
                <a:latin typeface="+mn-ea"/>
                <a:hlinkClick r:id="rId2" action="ppaction://hlinksldjump"/>
              </a:rPr>
              <a:t>政府標案 </a:t>
            </a:r>
            <a:r>
              <a:rPr lang="en-US" altLang="zh-TW" sz="1200" b="1" dirty="0" smtClean="0">
                <a:latin typeface="+mn-ea"/>
                <a:hlinkClick r:id="rId2" action="ppaction://hlinksldjump"/>
              </a:rPr>
              <a:t>- </a:t>
            </a:r>
            <a:r>
              <a:rPr lang="zh-TW" altLang="en-US" sz="1200" b="1" dirty="0" smtClean="0">
                <a:latin typeface="+mn-ea"/>
                <a:hlinkClick r:id="rId2" action="ppaction://hlinksldjump"/>
              </a:rPr>
              <a:t>影像辨識車輛逆行</a:t>
            </a:r>
            <a:endParaRPr lang="zh-TW" altLang="en-US" sz="1200" b="1" dirty="0">
              <a:latin typeface="+mn-ea"/>
            </a:endParaRPr>
          </a:p>
          <a:p>
            <a:pPr lvl="1"/>
            <a:r>
              <a:rPr lang="zh-TW" altLang="en-US" sz="1200" b="1" dirty="0" smtClean="0">
                <a:latin typeface="+mn-ea"/>
                <a:hlinkClick r:id="rId3" action="ppaction://hlinksldjump"/>
              </a:rPr>
              <a:t>蘇州休息站 </a:t>
            </a:r>
            <a:r>
              <a:rPr lang="en-US" altLang="zh-TW" sz="1200" b="1" dirty="0" smtClean="0">
                <a:latin typeface="+mn-ea"/>
                <a:hlinkClick r:id="rId3" action="ppaction://hlinksldjump"/>
              </a:rPr>
              <a:t>- </a:t>
            </a:r>
            <a:r>
              <a:rPr lang="zh-TW" altLang="en-US" sz="1200" b="1" dirty="0" smtClean="0">
                <a:latin typeface="+mn-ea"/>
                <a:hlinkClick r:id="rId3" action="ppaction://hlinksldjump"/>
              </a:rPr>
              <a:t>車輛容量管理</a:t>
            </a:r>
            <a:endParaRPr lang="zh-TW" altLang="en-US" sz="1200" b="1" dirty="0">
              <a:latin typeface="+mn-ea"/>
            </a:endParaRPr>
          </a:p>
          <a:p>
            <a:r>
              <a:rPr lang="zh-TW" altLang="en-US" sz="1200" b="1" dirty="0" smtClean="0">
                <a:latin typeface="+mn-ea"/>
              </a:rPr>
              <a:t>惠</a:t>
            </a:r>
            <a:r>
              <a:rPr lang="zh-TW" altLang="en-US" sz="1200" b="1" dirty="0">
                <a:latin typeface="+mn-ea"/>
              </a:rPr>
              <a:t>特科技公司</a:t>
            </a:r>
            <a:r>
              <a:rPr lang="en-US" altLang="zh-TW" sz="1200" b="1" dirty="0">
                <a:latin typeface="+mn-ea"/>
              </a:rPr>
              <a:t>(</a:t>
            </a:r>
            <a:r>
              <a:rPr lang="en-US" altLang="zh-TW" sz="1200" b="1" dirty="0" err="1" smtClean="0">
                <a:latin typeface="+mn-ea"/>
              </a:rPr>
              <a:t>FitTech</a:t>
            </a:r>
            <a:r>
              <a:rPr lang="en-US" altLang="zh-TW" sz="1200" b="1" dirty="0">
                <a:latin typeface="+mn-ea"/>
              </a:rPr>
              <a:t>)  </a:t>
            </a:r>
            <a:r>
              <a:rPr lang="en-US" altLang="zh-TW" sz="1200" b="1" dirty="0" smtClean="0">
                <a:latin typeface="+mn-ea"/>
              </a:rPr>
              <a:t>-</a:t>
            </a:r>
            <a:r>
              <a:rPr lang="zh-TW" altLang="en-US" sz="1200" b="1" dirty="0" smtClean="0">
                <a:latin typeface="+mn-ea"/>
              </a:rPr>
              <a:t> 機電整合 視覺分析</a:t>
            </a:r>
            <a:endParaRPr lang="en-US" altLang="zh-TW" sz="1200" b="1" dirty="0">
              <a:latin typeface="+mn-ea"/>
            </a:endParaRPr>
          </a:p>
          <a:p>
            <a:pPr lvl="1"/>
            <a:r>
              <a:rPr lang="en-US" altLang="zh-TW" sz="1200" b="1" dirty="0" smtClean="0">
                <a:latin typeface="+mn-ea"/>
                <a:hlinkClick r:id="rId4" action="ppaction://hlinksldjump"/>
              </a:rPr>
              <a:t>Probe - Motion 3-Axis system </a:t>
            </a:r>
            <a:r>
              <a:rPr lang="zh-TW" altLang="en-US" sz="1200" b="1" dirty="0" smtClean="0">
                <a:latin typeface="+mn-ea"/>
                <a:hlinkClick r:id="rId4" action="ppaction://hlinksldjump"/>
              </a:rPr>
              <a:t>更換案</a:t>
            </a:r>
            <a:endParaRPr lang="zh-TW" altLang="en-US" sz="1200" b="1" dirty="0" smtClean="0">
              <a:latin typeface="+mn-ea"/>
            </a:endParaRPr>
          </a:p>
          <a:p>
            <a:pPr lvl="1"/>
            <a:r>
              <a:rPr lang="en-US" altLang="zh-TW" sz="1200" b="1" dirty="0" smtClean="0">
                <a:latin typeface="+mn-ea"/>
                <a:hlinkClick r:id="rId5" action="ppaction://hlinksldjump"/>
              </a:rPr>
              <a:t>Probe - Vision CCD</a:t>
            </a:r>
            <a:endParaRPr lang="zh-TW" altLang="en-US" sz="1200" b="1" dirty="0">
              <a:latin typeface="+mn-ea"/>
            </a:endParaRPr>
          </a:p>
          <a:p>
            <a:pPr lvl="1"/>
            <a:r>
              <a:rPr lang="en-US" altLang="zh-TW" sz="1200" b="1" dirty="0" smtClean="0">
                <a:latin typeface="+mn-ea"/>
                <a:hlinkClick r:id="rId6" action="ppaction://hlinksldjump"/>
              </a:rPr>
              <a:t>Probe - Source Meter </a:t>
            </a:r>
            <a:r>
              <a:rPr lang="zh-TW" altLang="en-US" sz="1200" b="1" dirty="0" smtClean="0">
                <a:latin typeface="+mn-ea"/>
                <a:hlinkClick r:id="rId6" action="ppaction://hlinksldjump"/>
              </a:rPr>
              <a:t>主從架構優化案</a:t>
            </a:r>
            <a:endParaRPr lang="zh-TW" altLang="en-US" sz="1200" b="1" dirty="0">
              <a:latin typeface="+mn-ea"/>
            </a:endParaRPr>
          </a:p>
          <a:p>
            <a:r>
              <a:rPr lang="zh-TW" altLang="en-US" sz="1200" b="1" dirty="0" smtClean="0">
                <a:latin typeface="+mn-ea"/>
              </a:rPr>
              <a:t>三</a:t>
            </a:r>
            <a:r>
              <a:rPr lang="zh-TW" altLang="en-US" sz="1200" b="1" dirty="0">
                <a:latin typeface="+mn-ea"/>
              </a:rPr>
              <a:t>商電腦公司</a:t>
            </a:r>
            <a:r>
              <a:rPr lang="en-US" altLang="zh-TW" sz="1200" b="1" dirty="0">
                <a:latin typeface="+mn-ea"/>
              </a:rPr>
              <a:t>(MDS)  </a:t>
            </a:r>
            <a:r>
              <a:rPr lang="en-US" altLang="zh-TW" sz="1200" b="1" dirty="0" smtClean="0">
                <a:latin typeface="+mn-ea"/>
              </a:rPr>
              <a:t>- </a:t>
            </a:r>
            <a:r>
              <a:rPr lang="zh-TW" altLang="en-US" sz="1200" b="1" dirty="0" smtClean="0">
                <a:latin typeface="+mn-ea"/>
              </a:rPr>
              <a:t>通訊 操作介面 整合</a:t>
            </a:r>
            <a:endParaRPr lang="en-US" altLang="zh-TW" sz="1200" b="1" dirty="0">
              <a:latin typeface="+mn-ea"/>
            </a:endParaRPr>
          </a:p>
          <a:p>
            <a:pPr lvl="1"/>
            <a:r>
              <a:rPr lang="zh-TW" altLang="en-US" sz="1200" b="1" dirty="0" smtClean="0">
                <a:latin typeface="+mn-ea"/>
                <a:hlinkClick r:id="rId7" action="ppaction://hlinksldjump"/>
              </a:rPr>
              <a:t>台北</a:t>
            </a:r>
            <a:r>
              <a:rPr lang="zh-TW" altLang="en-US" sz="1200" b="1" dirty="0">
                <a:latin typeface="+mn-ea"/>
                <a:hlinkClick r:id="rId7" action="ppaction://hlinksldjump"/>
              </a:rPr>
              <a:t>捷運萬大線車站協議函式庫的開發  </a:t>
            </a:r>
            <a:endParaRPr lang="zh-TW" altLang="en-US" sz="1200" b="1" dirty="0">
              <a:latin typeface="+mn-ea"/>
            </a:endParaRPr>
          </a:p>
          <a:p>
            <a:r>
              <a:rPr lang="zh-TW" altLang="en-US" sz="1200" b="1" dirty="0">
                <a:latin typeface="+mn-ea"/>
              </a:rPr>
              <a:t>研華科技公司</a:t>
            </a:r>
            <a:r>
              <a:rPr lang="en-US" altLang="zh-TW" sz="1200" b="1" dirty="0">
                <a:latin typeface="+mn-ea"/>
              </a:rPr>
              <a:t>(ADVANTECH</a:t>
            </a:r>
            <a:r>
              <a:rPr lang="en-US" altLang="zh-TW" sz="1200" b="1" dirty="0" smtClean="0">
                <a:latin typeface="+mn-ea"/>
              </a:rPr>
              <a:t>)</a:t>
            </a:r>
            <a:r>
              <a:rPr lang="zh-TW" altLang="en-US" sz="1200" b="1" dirty="0" smtClean="0">
                <a:latin typeface="+mn-ea"/>
              </a:rPr>
              <a:t> </a:t>
            </a:r>
            <a:r>
              <a:rPr lang="en-US" altLang="zh-TW" sz="1200" b="1" dirty="0" smtClean="0">
                <a:latin typeface="+mn-ea"/>
              </a:rPr>
              <a:t>- </a:t>
            </a:r>
            <a:r>
              <a:rPr lang="en-US" altLang="zh-TW" sz="1200" b="1" dirty="0" err="1" smtClean="0">
                <a:latin typeface="+mn-ea"/>
              </a:rPr>
              <a:t>SaaS</a:t>
            </a:r>
            <a:r>
              <a:rPr lang="en-US" altLang="zh-TW" sz="1200" b="1" dirty="0">
                <a:latin typeface="+mn-ea"/>
              </a:rPr>
              <a:t>  </a:t>
            </a:r>
            <a:r>
              <a:rPr lang="zh-TW" altLang="en-US" sz="1200" b="1" dirty="0" smtClean="0">
                <a:latin typeface="+mn-ea"/>
              </a:rPr>
              <a:t>視覺分析 </a:t>
            </a:r>
            <a:r>
              <a:rPr lang="en-US" altLang="zh-TW" sz="1200" b="1" dirty="0" err="1" smtClean="0">
                <a:latin typeface="+mn-ea"/>
              </a:rPr>
              <a:t>EdgeAI</a:t>
            </a:r>
            <a:endParaRPr lang="en-US" altLang="zh-TW" sz="1200" b="1" dirty="0">
              <a:latin typeface="+mn-ea"/>
            </a:endParaRPr>
          </a:p>
          <a:p>
            <a:pPr lvl="1"/>
            <a:r>
              <a:rPr lang="en-US" altLang="zh-TW" sz="1200" u="sng" dirty="0" err="1" smtClean="0">
                <a:hlinkClick r:id="rId8" action="ppaction://hlinksldjump"/>
              </a:rPr>
              <a:t>Nvidia</a:t>
            </a:r>
            <a:r>
              <a:rPr lang="en-US" altLang="zh-TW" sz="1200" u="sng" dirty="0" smtClean="0">
                <a:hlinkClick r:id="rId8" action="ppaction://hlinksldjump"/>
              </a:rPr>
              <a:t> </a:t>
            </a:r>
            <a:r>
              <a:rPr lang="en-US" altLang="zh-TW" sz="1200" u="sng" dirty="0" err="1" smtClean="0">
                <a:hlinkClick r:id="rId8" action="ppaction://hlinksldjump"/>
              </a:rPr>
              <a:t>jetson</a:t>
            </a:r>
            <a:r>
              <a:rPr lang="en-US" altLang="zh-TW" sz="1200" u="sng" dirty="0" smtClean="0">
                <a:hlinkClick r:id="rId8" action="ppaction://hlinksldjump"/>
              </a:rPr>
              <a:t> platform - </a:t>
            </a:r>
            <a:r>
              <a:rPr lang="zh-TW" altLang="en-US" sz="1200" u="sng" dirty="0" smtClean="0">
                <a:hlinkClick r:id="rId8" action="ppaction://hlinksldjump"/>
              </a:rPr>
              <a:t>串流與使用者介面</a:t>
            </a:r>
            <a:endParaRPr lang="zh-TW" altLang="en-US" sz="1200" b="1" dirty="0">
              <a:latin typeface="+mn-ea"/>
            </a:endParaRPr>
          </a:p>
          <a:p>
            <a:r>
              <a:rPr lang="zh-TW" altLang="en-US" sz="1200" b="1" dirty="0">
                <a:latin typeface="+mn-ea"/>
              </a:rPr>
              <a:t>美商普維股份有限公司</a:t>
            </a:r>
            <a:r>
              <a:rPr lang="en-US" altLang="zh-TW" sz="1200" b="1" dirty="0">
                <a:latin typeface="+mn-ea"/>
              </a:rPr>
              <a:t>(Latticework)  </a:t>
            </a:r>
          </a:p>
          <a:p>
            <a:pPr lvl="1"/>
            <a:r>
              <a:rPr lang="zh-TW" altLang="en-US" sz="1200" b="1" dirty="0" smtClean="0">
                <a:latin typeface="+mn-ea"/>
              </a:rPr>
              <a:t>產品</a:t>
            </a:r>
            <a:r>
              <a:rPr lang="zh-TW" altLang="en-US" sz="1200" b="1" dirty="0">
                <a:latin typeface="+mn-ea"/>
              </a:rPr>
              <a:t>後端開發優化與測試</a:t>
            </a:r>
          </a:p>
          <a:p>
            <a:pPr lvl="1"/>
            <a:r>
              <a:rPr lang="en-US" altLang="zh-TW" sz="1200" b="1" dirty="0" smtClean="0">
                <a:latin typeface="+mn-ea"/>
              </a:rPr>
              <a:t>CI/CD</a:t>
            </a:r>
            <a:r>
              <a:rPr lang="zh-TW" altLang="en-US" sz="1200" b="1" dirty="0">
                <a:latin typeface="+mn-ea"/>
              </a:rPr>
              <a:t>優</a:t>
            </a:r>
            <a:r>
              <a:rPr lang="zh-TW" altLang="en-US" sz="1200" b="1" dirty="0" smtClean="0">
                <a:latin typeface="+mn-ea"/>
              </a:rPr>
              <a:t>化，技術文件</a:t>
            </a:r>
            <a:endParaRPr lang="en-US" altLang="zh-TW" sz="1200" b="1" dirty="0" smtClean="0">
              <a:latin typeface="+mn-ea"/>
            </a:endParaRPr>
          </a:p>
          <a:p>
            <a:r>
              <a:rPr lang="en-US" altLang="zh-TW" sz="1200" b="1" dirty="0" smtClean="0">
                <a:latin typeface="+mn-ea"/>
              </a:rPr>
              <a:t>HP</a:t>
            </a:r>
            <a:r>
              <a:rPr lang="en-US" altLang="zh-TW" sz="1200" b="1" dirty="0">
                <a:latin typeface="+mn-ea"/>
              </a:rPr>
              <a:t>  </a:t>
            </a:r>
            <a:r>
              <a:rPr lang="en-US" altLang="zh-TW" sz="1200" b="1" dirty="0" smtClean="0">
                <a:latin typeface="+mn-ea"/>
              </a:rPr>
              <a:t>- </a:t>
            </a:r>
            <a:r>
              <a:rPr lang="zh-TW" altLang="en-US" sz="1200" b="1" dirty="0" smtClean="0">
                <a:latin typeface="+mn-ea"/>
              </a:rPr>
              <a:t>視覺分析</a:t>
            </a:r>
            <a:endParaRPr lang="en-US" altLang="zh-TW" sz="1200" b="1" dirty="0">
              <a:latin typeface="+mn-ea"/>
            </a:endParaRPr>
          </a:p>
          <a:p>
            <a:pPr lvl="1"/>
            <a:r>
              <a:rPr lang="zh-TW" altLang="en-US" sz="1200" b="1" dirty="0" smtClean="0">
                <a:latin typeface="+mn-ea"/>
              </a:rPr>
              <a:t>產品前端開發</a:t>
            </a:r>
            <a:endParaRPr lang="en-US" altLang="zh-TW" sz="1200" b="1" dirty="0" smtClean="0">
              <a:latin typeface="+mn-ea"/>
            </a:endParaRPr>
          </a:p>
          <a:p>
            <a:pPr lvl="1"/>
            <a:r>
              <a:rPr lang="en-US" altLang="zh-TW" sz="1200" dirty="0">
                <a:hlinkClick r:id="rId9" action="ppaction://hlinksldjump"/>
              </a:rPr>
              <a:t>HP - Keyboard identifier - Yolo AI Model</a:t>
            </a:r>
            <a:endParaRPr lang="en-US" altLang="zh-TW" sz="1200" b="1" dirty="0" smtClean="0">
              <a:latin typeface="+mn-ea"/>
              <a:hlinkClick r:id="rId10" action="ppaction://hlinksldjump"/>
            </a:endParaRPr>
          </a:p>
          <a:p>
            <a:r>
              <a:rPr lang="en-US" altLang="zh-TW" sz="1200" b="1" dirty="0" err="1" smtClean="0">
                <a:latin typeface="+mn-ea"/>
                <a:hlinkClick r:id="rId10" action="ppaction://hlinksldjump"/>
              </a:rPr>
              <a:t>SideProject</a:t>
            </a:r>
            <a:endParaRPr lang="en-US" altLang="zh-TW" sz="12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098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50091" y="0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[</a:t>
            </a:r>
            <a:r>
              <a:rPr lang="zh-TW" altLang="en-US" dirty="0" smtClean="0"/>
              <a:t>公司</a:t>
            </a:r>
            <a:r>
              <a:rPr lang="en-US" altLang="zh-TW" dirty="0" smtClean="0"/>
              <a:t>][</a:t>
            </a:r>
            <a:r>
              <a:rPr lang="zh-TW" altLang="en-US" dirty="0" smtClean="0"/>
              <a:t>專案名稱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233428"/>
            <a:ext cx="8136904" cy="5445224"/>
          </a:xfrm>
        </p:spPr>
        <p:txBody>
          <a:bodyPr>
            <a:noAutofit/>
          </a:bodyPr>
          <a:lstStyle/>
          <a:p>
            <a:r>
              <a:rPr lang="zh-TW" altLang="en-US" sz="2000" dirty="0"/>
              <a:t>工作職掌</a:t>
            </a:r>
            <a:r>
              <a:rPr lang="en-US" altLang="zh-TW" sz="2000" dirty="0"/>
              <a:t>: </a:t>
            </a:r>
            <a:r>
              <a:rPr lang="zh-TW" altLang="en-US" sz="2000" dirty="0" smtClean="0"/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[</a:t>
            </a:r>
            <a:r>
              <a:rPr lang="zh-TW" altLang="en-US" sz="2000" dirty="0" smtClean="0">
                <a:solidFill>
                  <a:srgbClr val="FF0000"/>
                </a:solidFill>
              </a:rPr>
              <a:t>說明位於專案</a:t>
            </a:r>
            <a:r>
              <a:rPr lang="en-US" altLang="zh-TW" sz="2000" dirty="0" smtClean="0">
                <a:solidFill>
                  <a:srgbClr val="FF0000"/>
                </a:solidFill>
              </a:rPr>
              <a:t>/</a:t>
            </a:r>
            <a:r>
              <a:rPr lang="zh-TW" altLang="en-US" sz="2000" dirty="0" smtClean="0">
                <a:solidFill>
                  <a:srgbClr val="FF0000"/>
                </a:solidFill>
              </a:rPr>
              <a:t>產品中的角色 相關人數</a:t>
            </a:r>
            <a:r>
              <a:rPr lang="en-US" altLang="zh-TW" sz="2000" dirty="0" smtClean="0">
                <a:solidFill>
                  <a:srgbClr val="FF0000"/>
                </a:solidFill>
              </a:rPr>
              <a:t>]</a:t>
            </a:r>
          </a:p>
          <a:p>
            <a:r>
              <a:rPr lang="zh-TW" altLang="en-US" sz="2000" dirty="0" smtClean="0"/>
              <a:t>使用</a:t>
            </a:r>
            <a:r>
              <a:rPr lang="en-US" altLang="zh-TW" sz="2000" dirty="0"/>
              <a:t>Skill 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 </a:t>
            </a:r>
            <a:r>
              <a:rPr lang="en-US" altLang="zh-TW" sz="2000" dirty="0" smtClean="0">
                <a:solidFill>
                  <a:srgbClr val="FF0000"/>
                </a:solidFill>
              </a:rPr>
              <a:t>[</a:t>
            </a:r>
            <a:r>
              <a:rPr lang="zh-TW" altLang="en-US" sz="2000" dirty="0" smtClean="0">
                <a:solidFill>
                  <a:srgbClr val="FF0000"/>
                </a:solidFill>
              </a:rPr>
              <a:t>主要技術</a:t>
            </a:r>
            <a:r>
              <a:rPr lang="en-US" altLang="zh-TW" sz="2000" dirty="0" smtClean="0">
                <a:solidFill>
                  <a:srgbClr val="FF0000"/>
                </a:solidFill>
              </a:rPr>
              <a:t>]</a:t>
            </a:r>
            <a:endParaRPr lang="en-US" altLang="zh-TW" sz="2000" dirty="0">
              <a:solidFill>
                <a:srgbClr val="FF0000"/>
              </a:solidFill>
            </a:endParaRPr>
          </a:p>
          <a:p>
            <a:r>
              <a:rPr lang="zh-TW" altLang="en-US" sz="2000" dirty="0"/>
              <a:t>刊登頁面</a:t>
            </a:r>
            <a:r>
              <a:rPr lang="en-US" altLang="zh-TW" sz="2000" dirty="0"/>
              <a:t>: </a:t>
            </a:r>
            <a:r>
              <a:rPr lang="en-US" altLang="zh-TW" sz="2000" dirty="0" smtClean="0">
                <a:solidFill>
                  <a:srgbClr val="FF0000"/>
                </a:solidFill>
              </a:rPr>
              <a:t>[</a:t>
            </a:r>
            <a:r>
              <a:rPr lang="zh-TW" altLang="en-US" sz="2000" dirty="0" smtClean="0">
                <a:solidFill>
                  <a:srgbClr val="FF0000"/>
                </a:solidFill>
              </a:rPr>
              <a:t>相關連結</a:t>
            </a:r>
            <a:r>
              <a:rPr lang="en-US" altLang="zh-TW" sz="2000" dirty="0" smtClean="0">
                <a:solidFill>
                  <a:srgbClr val="FF0000"/>
                </a:solidFill>
              </a:rPr>
              <a:t>]</a:t>
            </a:r>
          </a:p>
          <a:p>
            <a:r>
              <a:rPr lang="zh-TW" altLang="en-US" sz="2000" dirty="0" smtClean="0"/>
              <a:t>主要</a:t>
            </a:r>
            <a:r>
              <a:rPr lang="zh-TW" altLang="en-US" sz="2000" dirty="0"/>
              <a:t>成果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>
                <a:solidFill>
                  <a:srgbClr val="FF0000"/>
                </a:solidFill>
              </a:rPr>
              <a:t>[</a:t>
            </a:r>
            <a:r>
              <a:rPr lang="zh-TW" altLang="en-US" sz="2000" dirty="0" smtClean="0">
                <a:solidFill>
                  <a:srgbClr val="FF0000"/>
                </a:solidFill>
              </a:rPr>
              <a:t>可被量化的結果或產出</a:t>
            </a:r>
            <a:r>
              <a:rPr lang="en-US" altLang="zh-TW" sz="2000" dirty="0" smtClean="0">
                <a:solidFill>
                  <a:srgbClr val="FF0000"/>
                </a:solidFill>
              </a:rPr>
              <a:t>]</a:t>
            </a:r>
            <a:endParaRPr lang="en-US" altLang="zh-TW" sz="2000" dirty="0">
              <a:solidFill>
                <a:srgbClr val="FF0000"/>
              </a:solidFill>
            </a:endParaRPr>
          </a:p>
          <a:p>
            <a:endParaRPr lang="en-US" altLang="zh-TW" sz="2000" dirty="0" smtClean="0"/>
          </a:p>
          <a:p>
            <a:r>
              <a:rPr lang="zh-TW" altLang="en-US" sz="2000" dirty="0" smtClean="0"/>
              <a:t>特色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>
                <a:solidFill>
                  <a:srgbClr val="FF0000"/>
                </a:solidFill>
              </a:rPr>
              <a:t>[</a:t>
            </a:r>
            <a:r>
              <a:rPr lang="zh-TW" altLang="en-US" sz="2000" dirty="0">
                <a:solidFill>
                  <a:srgbClr val="FF0000"/>
                </a:solidFill>
              </a:rPr>
              <a:t>負責專案</a:t>
            </a:r>
            <a:r>
              <a:rPr lang="zh-TW" altLang="en-US" sz="2000" dirty="0" smtClean="0">
                <a:solidFill>
                  <a:srgbClr val="FF0000"/>
                </a:solidFill>
              </a:rPr>
              <a:t>時，可能應用的其他技能資源或亮點</a:t>
            </a:r>
            <a:r>
              <a:rPr lang="en-US" altLang="zh-TW" sz="2000" dirty="0" smtClean="0">
                <a:solidFill>
                  <a:srgbClr val="FF0000"/>
                </a:solidFill>
              </a:rPr>
              <a:t>]</a:t>
            </a:r>
          </a:p>
          <a:p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000" dirty="0" smtClean="0">
                <a:hlinkClick r:id="rId2"/>
              </a:rPr>
              <a:t>詳細技術專案細節</a:t>
            </a:r>
            <a:endParaRPr lang="en-US" altLang="zh-TW" sz="2000" dirty="0"/>
          </a:p>
          <a:p>
            <a:pPr marL="82296" indent="0">
              <a:buNone/>
            </a:pPr>
            <a:r>
              <a:rPr lang="zh-TW" altLang="en-US" sz="1600" dirty="0" smtClean="0"/>
              <a:t>　　↑如果</a:t>
            </a:r>
            <a:r>
              <a:rPr lang="zh-TW" altLang="en-US" sz="1600" dirty="0" smtClean="0">
                <a:solidFill>
                  <a:srgbClr val="FF0000"/>
                </a:solidFill>
              </a:rPr>
              <a:t>想知道更多</a:t>
            </a:r>
            <a:r>
              <a:rPr lang="zh-TW" altLang="en-US" sz="1600" dirty="0" smtClean="0"/>
              <a:t>可點擊此連結</a:t>
            </a:r>
            <a:endParaRPr lang="en-US" altLang="zh-TW" sz="1600" dirty="0" smtClean="0"/>
          </a:p>
          <a:p>
            <a:pPr marL="82296" indent="0">
              <a:buNone/>
            </a:pPr>
            <a:r>
              <a:rPr lang="en-US" altLang="zh-TW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 smtClean="0">
                <a:solidFill>
                  <a:srgbClr val="FF0000"/>
                </a:solidFill>
              </a:rPr>
              <a:t> </a:t>
            </a:r>
            <a:r>
              <a:rPr lang="zh-TW" altLang="en-US" sz="1600" dirty="0" smtClean="0"/>
              <a:t>會連結到</a:t>
            </a:r>
            <a:r>
              <a:rPr lang="en-US" altLang="zh-TW" sz="1600" dirty="0" err="1" smtClean="0"/>
              <a:t>git</a:t>
            </a:r>
            <a:r>
              <a:rPr lang="zh-TW" altLang="en-US" sz="1600" dirty="0" smtClean="0"/>
              <a:t>說明頁</a:t>
            </a:r>
            <a:r>
              <a:rPr lang="zh-TW" altLang="en-US" sz="1600" dirty="0"/>
              <a:t>面</a:t>
            </a:r>
            <a:r>
              <a:rPr lang="zh-TW" altLang="en-US" sz="1600" dirty="0" smtClean="0"/>
              <a:t>去</a:t>
            </a:r>
            <a:r>
              <a:rPr lang="en-US" altLang="zh-TW" sz="1600" dirty="0" smtClean="0"/>
              <a:t>,</a:t>
            </a:r>
            <a:r>
              <a:rPr lang="zh-TW" altLang="en-US" sz="1600" dirty="0" smtClean="0"/>
              <a:t>使用</a:t>
            </a:r>
            <a:r>
              <a:rPr lang="en-US" altLang="zh-TW" sz="1600" dirty="0" smtClean="0"/>
              <a:t>STAR</a:t>
            </a:r>
            <a:r>
              <a:rPr lang="zh-TW" altLang="en-US" sz="1600" dirty="0" smtClean="0"/>
              <a:t>格式</a:t>
            </a:r>
            <a:endParaRPr lang="en-US" altLang="zh-TW" sz="1600" dirty="0"/>
          </a:p>
        </p:txBody>
      </p:sp>
      <p:sp>
        <p:nvSpPr>
          <p:cNvPr id="5" name="矩形 4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(1/5)</a:t>
            </a:r>
            <a:endParaRPr lang="en-US" altLang="zh-TW" u="sng" dirty="0"/>
          </a:p>
        </p:txBody>
      </p:sp>
      <p:sp>
        <p:nvSpPr>
          <p:cNvPr id="6" name="矩形 5"/>
          <p:cNvSpPr/>
          <p:nvPr/>
        </p:nvSpPr>
        <p:spPr>
          <a:xfrm>
            <a:off x="4788024" y="6309320"/>
            <a:ext cx="3168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如果想回到總覽可以點選此→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64088" y="5442376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點擊空白處即可到下一頁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40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50091" y="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/>
              <a:t>    綠捷能智控 </a:t>
            </a:r>
            <a:r>
              <a:rPr lang="en-US" altLang="zh-TW" dirty="0" smtClean="0"/>
              <a:t>-</a:t>
            </a:r>
            <a:r>
              <a:rPr lang="zh-TW" altLang="en-US" dirty="0"/>
              <a:t>車輛逆行偵測</a:t>
            </a:r>
            <a:r>
              <a:rPr lang="zh-TW" altLang="en-US" dirty="0" smtClean="0"/>
              <a:t>專案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233428"/>
            <a:ext cx="8136904" cy="5445224"/>
          </a:xfrm>
        </p:spPr>
        <p:txBody>
          <a:bodyPr>
            <a:noAutofit/>
          </a:bodyPr>
          <a:lstStyle/>
          <a:p>
            <a:r>
              <a:rPr lang="zh-TW" altLang="en-US" sz="2000" dirty="0"/>
              <a:t>工作職掌</a:t>
            </a:r>
            <a:r>
              <a:rPr lang="en-US" altLang="zh-TW" sz="2000" dirty="0"/>
              <a:t>: SW/FW RD</a:t>
            </a:r>
          </a:p>
          <a:p>
            <a:r>
              <a:rPr lang="zh-TW" altLang="en-US" sz="2000" dirty="0"/>
              <a:t>使用</a:t>
            </a:r>
            <a:r>
              <a:rPr lang="en-US" altLang="zh-TW" sz="2000" dirty="0"/>
              <a:t>Skill - C++, BCB6, Embedded Windows, </a:t>
            </a:r>
            <a:r>
              <a:rPr lang="en-US" altLang="zh-TW" sz="2000" dirty="0" err="1"/>
              <a:t>Winform</a:t>
            </a:r>
            <a:r>
              <a:rPr lang="en-US" altLang="zh-TW" sz="2000" dirty="0"/>
              <a:t>, Linux, Win32 API, IPC, Serial port(COM), I2C, UART, SPI, </a:t>
            </a:r>
            <a:r>
              <a:rPr lang="en-US" altLang="zh-TW" sz="2000" dirty="0" err="1"/>
              <a:t>FFmpeg</a:t>
            </a:r>
            <a:r>
              <a:rPr lang="en-US" altLang="zh-TW" sz="2000" dirty="0"/>
              <a:t>, RTSP, MySQL</a:t>
            </a:r>
          </a:p>
          <a:p>
            <a:r>
              <a:rPr lang="zh-TW" altLang="en-US" sz="2000" dirty="0"/>
              <a:t>刊登頁面</a:t>
            </a:r>
            <a:r>
              <a:rPr lang="en-US" altLang="zh-TW" sz="2000" dirty="0"/>
              <a:t>: </a:t>
            </a:r>
            <a:r>
              <a:rPr lang="zh-TW" altLang="en-US" sz="2000" u="sng" dirty="0">
                <a:hlinkClick r:id="rId2"/>
              </a:rPr>
              <a:t>國道視窗 </a:t>
            </a:r>
            <a:r>
              <a:rPr lang="en-US" altLang="zh-TW" sz="2000" u="sng" dirty="0">
                <a:hlinkClick r:id="rId2"/>
              </a:rPr>
              <a:t>- </a:t>
            </a:r>
            <a:r>
              <a:rPr lang="zh-TW" altLang="en-US" sz="2000" u="sng" dirty="0">
                <a:hlinkClick r:id="rId2"/>
              </a:rPr>
              <a:t>國道</a:t>
            </a:r>
            <a:r>
              <a:rPr lang="en-US" altLang="zh-TW" sz="2000" u="sng" dirty="0">
                <a:hlinkClick r:id="rId2"/>
              </a:rPr>
              <a:t>5</a:t>
            </a:r>
            <a:r>
              <a:rPr lang="zh-TW" altLang="en-US" sz="2000" u="sng" dirty="0">
                <a:hlinkClick r:id="rId2"/>
              </a:rPr>
              <a:t>號蘇澳交流道出口增設逆行車輛偵測</a:t>
            </a:r>
            <a:endParaRPr lang="zh-TW" altLang="en-US" sz="2000" dirty="0"/>
          </a:p>
          <a:p>
            <a:r>
              <a:rPr lang="zh-TW" altLang="en-US" sz="2000" dirty="0" smtClean="0"/>
              <a:t>主要</a:t>
            </a:r>
            <a:r>
              <a:rPr lang="zh-TW" altLang="en-US" sz="2000" dirty="0"/>
              <a:t>成果</a:t>
            </a:r>
            <a:r>
              <a:rPr lang="en-US" altLang="zh-TW" sz="2000" dirty="0"/>
              <a:t>:</a:t>
            </a:r>
          </a:p>
          <a:p>
            <a:r>
              <a:rPr lang="zh-TW" altLang="en-US" sz="2000" dirty="0"/>
              <a:t>經報導指出</a:t>
            </a:r>
            <a:r>
              <a:rPr lang="en-US" altLang="zh-TW" sz="2000" dirty="0"/>
              <a:t>: </a:t>
            </a:r>
            <a:r>
              <a:rPr lang="zh-TW" altLang="en-US" sz="2000" dirty="0"/>
              <a:t>其準確率為</a:t>
            </a:r>
            <a:r>
              <a:rPr lang="en-US" altLang="zh-TW" sz="2000" dirty="0"/>
              <a:t>97.5%</a:t>
            </a:r>
            <a:r>
              <a:rPr lang="zh-TW" altLang="en-US" sz="2000" dirty="0"/>
              <a:t>，誤報率為</a:t>
            </a:r>
            <a:r>
              <a:rPr lang="en-US" altLang="zh-TW" sz="2000" dirty="0"/>
              <a:t>0%(</a:t>
            </a:r>
            <a:r>
              <a:rPr lang="zh-TW" altLang="en-US" sz="2000" dirty="0"/>
              <a:t>共計順向</a:t>
            </a:r>
            <a:r>
              <a:rPr lang="en-US" altLang="zh-TW" sz="2000" dirty="0"/>
              <a:t>72103</a:t>
            </a:r>
            <a:r>
              <a:rPr lang="zh-TW" altLang="en-US" sz="2000" dirty="0"/>
              <a:t>車次無誤報情形</a:t>
            </a:r>
            <a:r>
              <a:rPr lang="en-US" altLang="zh-TW" sz="2000" dirty="0"/>
              <a:t>)</a:t>
            </a:r>
          </a:p>
          <a:p>
            <a:r>
              <a:rPr lang="zh-TW" altLang="en-US" sz="2000" dirty="0"/>
              <a:t>設備設計於放置戶外機箱</a:t>
            </a:r>
            <a:r>
              <a:rPr lang="en-US" altLang="zh-TW" sz="2000" dirty="0"/>
              <a:t>24</a:t>
            </a:r>
            <a:r>
              <a:rPr lang="zh-TW" altLang="en-US" sz="2000" dirty="0"/>
              <a:t>小時運作至今</a:t>
            </a:r>
          </a:p>
          <a:p>
            <a:r>
              <a:rPr lang="zh-TW" altLang="en-US" sz="2000" dirty="0"/>
              <a:t>特色</a:t>
            </a:r>
            <a:r>
              <a:rPr lang="en-US" altLang="zh-TW" sz="2000" dirty="0"/>
              <a:t>:</a:t>
            </a:r>
          </a:p>
          <a:p>
            <a:r>
              <a:rPr lang="zh-TW" altLang="en-US" sz="2000" dirty="0"/>
              <a:t>導入</a:t>
            </a:r>
            <a:r>
              <a:rPr lang="en-US" altLang="zh-TW" sz="2000" dirty="0"/>
              <a:t>Multiprocessing </a:t>
            </a:r>
            <a:r>
              <a:rPr lang="zh-TW" altLang="en-US" sz="2000" dirty="0"/>
              <a:t>與</a:t>
            </a:r>
            <a:r>
              <a:rPr lang="en-US" altLang="zh-TW" sz="2000" dirty="0"/>
              <a:t>IPC </a:t>
            </a:r>
            <a:r>
              <a:rPr lang="zh-TW" altLang="en-US" sz="2000" dirty="0"/>
              <a:t>對系統架構進行堆疊</a:t>
            </a:r>
            <a:r>
              <a:rPr lang="en-US" altLang="zh-TW" sz="2000" dirty="0"/>
              <a:t>(</a:t>
            </a:r>
            <a:r>
              <a:rPr lang="zh-TW" altLang="en-US" sz="2000" dirty="0"/>
              <a:t>當時還無微服務概念</a:t>
            </a:r>
            <a:r>
              <a:rPr lang="en-US" altLang="zh-TW" sz="2000" dirty="0"/>
              <a:t>)</a:t>
            </a:r>
          </a:p>
          <a:p>
            <a:r>
              <a:rPr lang="zh-TW" altLang="en-US" sz="2000" dirty="0"/>
              <a:t>結合 集結</a:t>
            </a:r>
            <a:r>
              <a:rPr lang="en-US" altLang="zh-TW" sz="2000" dirty="0"/>
              <a:t>/</a:t>
            </a:r>
            <a:r>
              <a:rPr lang="zh-TW" altLang="en-US" sz="2000" dirty="0"/>
              <a:t>軟體</a:t>
            </a:r>
            <a:r>
              <a:rPr lang="en-US" altLang="zh-TW" sz="2000" dirty="0"/>
              <a:t>/</a:t>
            </a:r>
            <a:r>
              <a:rPr lang="zh-TW" altLang="en-US" sz="2000" dirty="0"/>
              <a:t>網際網路程式</a:t>
            </a:r>
            <a:r>
              <a:rPr lang="en-US" altLang="zh-TW" sz="2000" dirty="0"/>
              <a:t>/</a:t>
            </a:r>
            <a:r>
              <a:rPr lang="zh-TW" altLang="en-US" sz="2000" dirty="0"/>
              <a:t>視覺</a:t>
            </a:r>
            <a:r>
              <a:rPr lang="en-US" altLang="zh-TW" sz="2000" dirty="0"/>
              <a:t>/</a:t>
            </a:r>
            <a:r>
              <a:rPr lang="zh-TW" altLang="en-US" sz="2000" dirty="0"/>
              <a:t>韌體串接</a:t>
            </a:r>
            <a:r>
              <a:rPr lang="en-US" altLang="zh-TW" sz="2000" dirty="0"/>
              <a:t>/</a:t>
            </a:r>
            <a:r>
              <a:rPr lang="zh-TW" altLang="en-US" sz="2000" dirty="0"/>
              <a:t>協定 各種</a:t>
            </a:r>
            <a:r>
              <a:rPr lang="zh-TW" altLang="en-US" sz="2000" dirty="0" smtClean="0"/>
              <a:t>功能</a:t>
            </a:r>
            <a:endParaRPr lang="en-US" altLang="zh-TW" sz="2000" dirty="0" smtClean="0"/>
          </a:p>
          <a:p>
            <a:endParaRPr lang="en-US" altLang="zh-TW" sz="2000" dirty="0"/>
          </a:p>
          <a:p>
            <a:r>
              <a:rPr lang="zh-TW" altLang="en-US" sz="2000" dirty="0" smtClean="0">
                <a:hlinkClick r:id="rId3"/>
              </a:rPr>
              <a:t>詳細技術專案細節</a:t>
            </a:r>
            <a:endParaRPr lang="en-US" altLang="zh-TW" sz="2000" dirty="0" smtClean="0"/>
          </a:p>
          <a:p>
            <a:endParaRPr lang="en-US" altLang="zh-TW" sz="2000" dirty="0"/>
          </a:p>
        </p:txBody>
      </p:sp>
      <p:pic>
        <p:nvPicPr>
          <p:cNvPr id="1026" name="Picture 2" descr="C:\Users\gary8\Desktop\logo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32656"/>
            <a:ext cx="720080" cy="6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5" action="ppaction://hlinksldjump"/>
              </a:rPr>
              <a:t>Top</a:t>
            </a:r>
            <a:r>
              <a:rPr lang="en-US" altLang="zh-TW" u="sng" dirty="0" smtClean="0"/>
              <a:t>(1/5)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200957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47664" y="274638"/>
            <a:ext cx="7386024" cy="1354162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刊登頁面</a:t>
            </a:r>
            <a:r>
              <a:rPr lang="en-US" altLang="zh-TW" sz="2000" dirty="0"/>
              <a:t>: </a:t>
            </a:r>
            <a:r>
              <a:rPr lang="zh-TW" altLang="en-US" sz="2000" u="sng" dirty="0">
                <a:hlinkClick r:id="rId2"/>
              </a:rPr>
              <a:t>國道視窗 </a:t>
            </a:r>
            <a:r>
              <a:rPr lang="en-US" altLang="zh-TW" sz="2000" u="sng" dirty="0">
                <a:hlinkClick r:id="rId2"/>
              </a:rPr>
              <a:t>- </a:t>
            </a:r>
            <a:r>
              <a:rPr lang="zh-TW" altLang="en-US" sz="2000" u="sng" dirty="0">
                <a:hlinkClick r:id="rId2"/>
              </a:rPr>
              <a:t>國道</a:t>
            </a:r>
            <a:r>
              <a:rPr lang="en-US" altLang="zh-TW" sz="2000" u="sng" dirty="0">
                <a:hlinkClick r:id="rId2"/>
              </a:rPr>
              <a:t>5</a:t>
            </a:r>
            <a:r>
              <a:rPr lang="zh-TW" altLang="en-US" sz="2000" u="sng" dirty="0">
                <a:hlinkClick r:id="rId2"/>
              </a:rPr>
              <a:t>號蘇澳交流道出口增設逆行車輛偵測</a:t>
            </a:r>
            <a:r>
              <a:rPr lang="zh-TW" altLang="en-US" sz="2000" dirty="0"/>
              <a:t/>
            </a:r>
            <a:br>
              <a:rPr lang="zh-TW" altLang="en-US" sz="2000" dirty="0"/>
            </a:b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8401402" y="6309320"/>
            <a:ext cx="54482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100" u="sng" dirty="0" smtClean="0">
                <a:hlinkClick r:id="rId3" action="ppaction://hlinksldjump"/>
              </a:rPr>
              <a:t>Top</a:t>
            </a:r>
            <a:r>
              <a:rPr lang="zh-TW" altLang="en-US" sz="1100" u="sng" dirty="0" smtClean="0"/>
              <a:t> </a:t>
            </a:r>
            <a:r>
              <a:rPr lang="en-US" altLang="zh-TW" sz="1100" dirty="0" smtClean="0"/>
              <a:t>(2/5</a:t>
            </a:r>
            <a:r>
              <a:rPr lang="en-US" altLang="zh-TW" sz="1100" dirty="0"/>
              <a:t>)</a:t>
            </a:r>
            <a:endParaRPr lang="zh-TW" altLang="en-US" sz="1100" dirty="0"/>
          </a:p>
          <a:p>
            <a:endParaRPr lang="en-US" altLang="zh-TW" sz="1100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205" y="1435560"/>
            <a:ext cx="7239469" cy="489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497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7" name="Picture 3" descr="D:\Project_Backup\[programfile]\[教學擷取圖]\IVS教學畫面\M0248V05.03介面照片\設定主頁面 偵測模式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604" y="692696"/>
            <a:ext cx="5400600" cy="268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559" y="4223877"/>
            <a:ext cx="4303640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 descr="D:\面試資料\IVS\IVS介面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5" y="620688"/>
            <a:ext cx="4104456" cy="307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4191604" y="3416506"/>
            <a:ext cx="5274310" cy="282638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6" action="ppaction://hlinksldjump"/>
              </a:rPr>
              <a:t>Top</a:t>
            </a:r>
            <a:r>
              <a:rPr lang="en-US" altLang="zh-TW" u="sng" dirty="0" smtClean="0"/>
              <a:t>(3/5)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351381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>
                <a:effectLst/>
              </a:rPr>
              <a:t>Multi detection wrong-way system </a:t>
            </a:r>
            <a:r>
              <a:rPr lang="en-US" altLang="zh-TW" sz="3200" dirty="0" smtClean="0">
                <a:effectLst/>
              </a:rPr>
              <a:t>of </a:t>
            </a:r>
            <a:r>
              <a:rPr lang="en-US" altLang="zh-TW" sz="3200" dirty="0">
                <a:effectLst/>
              </a:rPr>
              <a:t/>
            </a:r>
            <a:br>
              <a:rPr lang="en-US" altLang="zh-TW" sz="3200" dirty="0">
                <a:effectLst/>
              </a:rPr>
            </a:br>
            <a:r>
              <a:rPr lang="en-US" altLang="zh-TW" sz="3200" dirty="0">
                <a:effectLst/>
              </a:rPr>
              <a:t>Taiwan Freeway No. 5</a:t>
            </a:r>
            <a:r>
              <a:rPr lang="en-US" altLang="zh-TW" sz="3200" dirty="0" smtClean="0">
                <a:effectLst/>
              </a:rPr>
              <a:t>.</a:t>
            </a:r>
            <a:endParaRPr lang="zh-TW" altLang="en-US" sz="3200" dirty="0"/>
          </a:p>
        </p:txBody>
      </p:sp>
      <p:pic>
        <p:nvPicPr>
          <p:cNvPr id="10244" name="Picture 4" descr="https://lh3.googleusercontent.com/eVcHp-5lR3xAiLmoOIP5KbQWcI7aK2Mdldi2gUgxCqGDOzKtyWRuJLsWtFgq1Bw-FOCEUX9ydvXEW6OMODStMFLBxpyscTGcrFIkxmVlnIrfQlHehqEQAZsK71K03PXFDXxNk-c7niq2MC5eHo7HL96hExEMLHogzHi39BI3JX0QXTBrn0L-vSntl2Hou4N4COX3ep_56CuIls8tiiKqPFWeYgJi0cMAlsceWOHtiqPwywIlt68Fq6way5LBphRDlLUdJgbVkWu7kU6h_WAnP3w6jIS8l9WUVqAjUAUOkm7_XRMNV5EMJlTMgMZ819r2dRQw6x35znfMg3vvnMpommzjEp557uyykntOVBUWcxtC9b6EUOUMxHnJO_WcWLaJGe30GDsttZB8H5M_qJWyX6wOlBb2TsdEOJ--JvqAdhsjKI6-L3v56oTsM_naQGvw1vpJ7A2t-DR-6xgIfRCVlh6YJ85Qpl0WGw0bOEECUSihMvXvlf8EtXZiTtAsi4mQ7jvFl8heRgzVkVWEtraJ4ScNQ3pSDsSX8L28W7U7uU6wJlGQ-0HGQNCY0hQ8YANn5mixzX3X5auVs04z5Lu3mnd5rYYNqk-At4hE11Kzak_-kOtSKPqQwe7WxmkYSDYB-XTeD0f_ZeykNaWXDH33xYQ0TRrJ2JakSWb6drXYiTd-J5iaRzUaFqFbL4hrcfZmRk2GbnhH9X7K0ffG-79F_egsAw=w1666-h937-no?authuser=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46" y="1731142"/>
            <a:ext cx="3816422" cy="21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s://lh3.googleusercontent.com/thFkPpIBsvyb7ixbuE0i6OnAD0xze7JHiNOCqp-1D0vSUbRBsvgY1qktZWWYxCYRyK2pSyqAI5jrUQwrqioYpKbtQarvQjdE6hKPcPvXCEJzgZzX_lHkDPjQSGg5ulbZOzlKBw0UlTbHQ3xcg6XBJClfxfgKzLbJLzW8jqkE-7qKqoqmI1jWFMByi4EayUjFSKBCLAHrVt7Fszt_9jjUA9Q0DF6z1pNxNwKwKa8e-s8NOR-dbKeVmVbOPPZ6VyNb3XaSWBEpNxsozp89FofQR3l67vhVPvEwYpXd0uc20b80YN1xfkhl4CwJ4hMUMxBv6xSTkAyuwvJf49cgACpwuI22KW4fqryg1k8OGtlE7qkslxl5RXWrhsqSEQjoOdgiyKvY_BxHC83gE28yXcy6mkDFnwUT9Nvtb1mcUXHz3DeMib3h3Y5GfZBm6cUapBSBVoDnTn2PG4zMQcJc9a__x6_BT9a_V6w4VDCaKePT6SSn4qnuRvvWOfx7FZvpiCHL4rqOqjwHFxzDNN1maoWJvsiJjwgu96ikMD9w7GXVJa-qVPM6MWZKre0JK_E-7nk_RG32IyCB_NkelTBsogSiTglYc_QgVfrXL8rlXyXPlB1QQn7WaxfF5mXOXP39qlxpqGgtvPe4kFpnAt6xFxqJCKLjb_-ZD8jngMKehFzdsdwn9t2ok6saeQiTLsvsrCuIeEB8v_JmXHx3hezHjD8V7Rtp1Q=w1666-h937-no?authuser=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7" y="4056691"/>
            <a:ext cx="3816423" cy="21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ttps://lh3.googleusercontent.com/RFBkdpmm8LeGBdpImIQMMXCAIg7kcQyWERshXNmmNoPAmefKSzYEKFPlyv5poE_z7eCyXtrsWH4oOO8YgAf9VsdDEcBtrza7WXoMNyymap3HPHwhDYLwMdGfJXJ1Y7wPeM3Yuv6gWSsYBHIiOGLnqtGHC_edKMs73_P416_T4nGYrKp1ekqTW2hKQ4FYFZ_LjrilFZrLQfrSfynGEjk7VrUuzYnI8hGjb55_3nTU5tu62kKyaX5cpXnvHk2Ry_f4ZuyNieZEfgDotwvtcJpveSX9jwD4WlOjvILIHSqNjYJzPmZccen8CLDxSsX2prjH1E2HzFIPsDU_lgct83lyZsu1HItl4X7Iiccduy66X_cZ3s5TpOOhx81-CtkvFjbYT-8EmzuFTx2WVGBTTpjJl0-NXJhPT4WayJGqL2Koavpe5fSPccGZEcUwxwUNC32pzI1mUzKTFr4tZKJhc_eZ0tzO9NTZDG1l_gGVrE1J1tg0T8eTAm3tmbx2PYd1XHYGjK9tJypeUCIl38cr1Eu8TknPSjtnvBGVfaptT6TTH5HXX2lwm-An4WzkohqgluIkcwx0kSOsEOXOFv8r88znhKnfME7lwQY76bVB4FvZeF4RC323uiWj5xSR8gv3YhOlbqarKTomhxtZlRpV3JIFGn5GHdKmq5NPthnxoBSqLiQ9PCQIp7qxY9vRtfJHLmT1nzUQsJSvWsy9tQcZ-_C_l8b5Lg=w1666-h937-no?authuser=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757038"/>
            <a:ext cx="3816423" cy="214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" name="Picture 5" descr="https://lh3.googleusercontent.com/Cr7ZwP6mxdhkKAAbbD7KpnzpD-69ih9iKu0xqrFPlkuAwrwYjBW2evNaximYaNF68_6TXuyIyjutTeo-yBeefspoqtOmHixg1HApANI-tIhepsXTH1jpawu8Cxf8j30ejrM4T_bNe903gjhkkxCwiwi-8zfRVgYs0wKWZnLxUV8mAwtz3To3ME1qKMD9aFZ8LFyYxILXBhIRC-jStcyBiBulCV054ByS2jT5AWwKwiIqb1lymGboRI9_MFKxJFem-tXGlt84haMWdlH9s16im7yGARkffQ3PXWxCihyFYnnGqmyZ2uV6hkJxdPS9GK-vya9rYPrbUaCGdJdRq9CLvsTh51fePOZJhK-yKwNGrztV8ZQ5lTkbDKzeoeNWgAw10Z4VAKawfMa2ArMSQ5ryWuH9Xe7PoB728QNZ9uimNXNSLizJVud6NmAp4dTOWKWlx5_i0RFPpxu6GpruIrmS6_-CXCSipuhuJJFMACrXB3ubcF3yebERg6eS0Shl4xWXe22qPQKqi7NoZ3ZMJ3Nt_-HvDEAC9R2sGqdA1JSKbpBd16m8lrWFKxGcJFC3hcqEENSekWJX_5ab8Nq_OqJsmzcCsBVlApbeqAUHmNhaRWgaMgpSV9tC3JBkVfOa_5ojIdYT2NQsA7DKET3t4kuRvn91ssjb2MBH-gwbWDP1K9eBSzx76EGYTyXAYi1nRzfPj-17RZ--DqTkPx_qLxedCd2WRw=w1666-h937-no?authuser=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89" y="4091715"/>
            <a:ext cx="3960441" cy="222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6" action="ppaction://hlinksldjump"/>
              </a:rPr>
              <a:t>Top</a:t>
            </a:r>
            <a:r>
              <a:rPr lang="en-US" altLang="zh-TW" u="sng" dirty="0" smtClean="0"/>
              <a:t>(4/5)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297347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720" y="1556792"/>
            <a:ext cx="4838708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3744416" cy="538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(5/5)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37148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881968" cy="1143000"/>
          </a:xfrm>
        </p:spPr>
        <p:txBody>
          <a:bodyPr>
            <a:noAutofit/>
          </a:bodyPr>
          <a:lstStyle/>
          <a:p>
            <a:r>
              <a:rPr lang="zh-TW" altLang="en-US" sz="3200" dirty="0" smtClean="0"/>
              <a:t>綠捷能智控 </a:t>
            </a:r>
            <a:r>
              <a:rPr lang="en-US" altLang="zh-TW" sz="3200" dirty="0" smtClean="0"/>
              <a:t>-</a:t>
            </a:r>
            <a:r>
              <a:rPr lang="zh-TW" altLang="en-US" sz="3200" dirty="0" smtClean="0"/>
              <a:t> 休息站</a:t>
            </a:r>
            <a:r>
              <a:rPr lang="zh-TW" altLang="en-US" sz="3200" dirty="0"/>
              <a:t>停車場車輛計數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000" dirty="0"/>
              <a:t>工作職掌</a:t>
            </a:r>
            <a:r>
              <a:rPr lang="en-US" altLang="zh-TW" sz="2000" dirty="0"/>
              <a:t>: SW/FW RD</a:t>
            </a:r>
          </a:p>
          <a:p>
            <a:r>
              <a:rPr lang="zh-TW" altLang="en-US" sz="2000" dirty="0"/>
              <a:t>使用</a:t>
            </a:r>
            <a:r>
              <a:rPr lang="en-US" altLang="zh-TW" sz="2000" dirty="0"/>
              <a:t>Skill - C++, </a:t>
            </a:r>
            <a:r>
              <a:rPr lang="en-US" altLang="zh-TW" sz="2000" dirty="0" err="1"/>
              <a:t>Winform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FFmpeg</a:t>
            </a:r>
            <a:r>
              <a:rPr lang="en-US" altLang="zh-TW" sz="2000" dirty="0"/>
              <a:t>, Live555, RTSP, MySQL</a:t>
            </a:r>
          </a:p>
          <a:p>
            <a:r>
              <a:rPr lang="zh-TW" altLang="en-US" sz="2000" dirty="0"/>
              <a:t>主要成果</a:t>
            </a:r>
            <a:r>
              <a:rPr lang="en-US" altLang="zh-TW" sz="2000" dirty="0"/>
              <a:t>:</a:t>
            </a:r>
          </a:p>
          <a:p>
            <a:r>
              <a:rPr lang="zh-TW" altLang="en-US" sz="2000" dirty="0"/>
              <a:t>主從架構與</a:t>
            </a:r>
            <a:r>
              <a:rPr lang="en-US" altLang="zh-TW" sz="2000" dirty="0"/>
              <a:t>IPC</a:t>
            </a:r>
            <a:r>
              <a:rPr lang="zh-TW" altLang="en-US" sz="2000" dirty="0"/>
              <a:t>，實現出錯快速復歸提升穩定性與容錯度，滿足需置於戶外</a:t>
            </a:r>
            <a:r>
              <a:rPr lang="en-US" altLang="zh-TW" sz="2000" dirty="0"/>
              <a:t>24</a:t>
            </a:r>
            <a:r>
              <a:rPr lang="zh-TW" altLang="en-US" sz="2000" dirty="0"/>
              <a:t>小時不間斷運作需求</a:t>
            </a:r>
          </a:p>
          <a:p>
            <a:r>
              <a:rPr lang="zh-TW" altLang="en-US" sz="2000" dirty="0"/>
              <a:t>串流轉發服務有效降低攝影機負載</a:t>
            </a:r>
          </a:p>
          <a:p>
            <a:r>
              <a:rPr lang="zh-TW" altLang="en-US" sz="2000" dirty="0"/>
              <a:t>特色</a:t>
            </a:r>
            <a:r>
              <a:rPr lang="en-US" altLang="zh-TW" sz="2000" dirty="0"/>
              <a:t>:</a:t>
            </a:r>
          </a:p>
          <a:p>
            <a:r>
              <a:rPr lang="en-US" altLang="zh-TW" sz="2000" dirty="0"/>
              <a:t>SOP</a:t>
            </a:r>
            <a:r>
              <a:rPr lang="zh-TW" altLang="en-US" sz="2000" dirty="0"/>
              <a:t>降低遠端部署難度，成功部署於中國二十幾個站點</a:t>
            </a:r>
          </a:p>
          <a:p>
            <a:r>
              <a:rPr lang="zh-TW" altLang="en-US" sz="2000" dirty="0"/>
              <a:t>符合使用者超作</a:t>
            </a:r>
            <a:r>
              <a:rPr lang="zh-TW" altLang="en-US" sz="2000" dirty="0" smtClean="0"/>
              <a:t>介面</a:t>
            </a:r>
            <a:endParaRPr lang="en-US" altLang="zh-TW" sz="2000" b="1" dirty="0">
              <a:latin typeface="+mn-ea"/>
            </a:endParaRPr>
          </a:p>
          <a:p>
            <a:pPr marL="0" indent="0">
              <a:buNone/>
            </a:pPr>
            <a:endParaRPr lang="en-US" altLang="zh-TW" sz="1400" b="1" dirty="0" smtClean="0">
              <a:latin typeface="+mn-ea"/>
            </a:endParaRPr>
          </a:p>
          <a:p>
            <a:pPr marL="0" indent="0">
              <a:buNone/>
            </a:pPr>
            <a:r>
              <a:rPr lang="zh-TW" altLang="en-US" sz="1400" dirty="0">
                <a:hlinkClick r:id="rId2"/>
              </a:rPr>
              <a:t>詳細技術專案細節</a:t>
            </a:r>
            <a:endParaRPr lang="zh-TW" altLang="en-US" sz="1400" dirty="0"/>
          </a:p>
          <a:p>
            <a:pPr marL="0" indent="0">
              <a:buNone/>
            </a:pPr>
            <a:endParaRPr lang="zh-TW" altLang="en-US" sz="1400" b="1" dirty="0">
              <a:latin typeface="+mn-ea"/>
            </a:endParaRPr>
          </a:p>
        </p:txBody>
      </p:sp>
      <p:pic>
        <p:nvPicPr>
          <p:cNvPr id="1026" name="Picture 2" descr="C:\Users\gary8\Desktop\logo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59768"/>
            <a:ext cx="720080" cy="6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(1/2)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258831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4016"/>
            <a:ext cx="4499992" cy="3429000"/>
          </a:xfrm>
          <a:prstGeom prst="rect">
            <a:avLst/>
          </a:prstGeom>
        </p:spPr>
      </p:pic>
      <p:pic>
        <p:nvPicPr>
          <p:cNvPr id="9" name="圖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4016"/>
            <a:ext cx="4644008" cy="342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73016"/>
            <a:ext cx="4499992" cy="3284984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11" name="圖片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499992" y="3573016"/>
            <a:ext cx="4644008" cy="328498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6" action="ppaction://hlinksldjump"/>
              </a:rPr>
              <a:t>Top</a:t>
            </a:r>
            <a:r>
              <a:rPr lang="en-US" altLang="zh-TW" u="sng" dirty="0" smtClean="0"/>
              <a:t>(2/2)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53815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83768" y="274638"/>
            <a:ext cx="6449920" cy="1143000"/>
          </a:xfrm>
        </p:spPr>
        <p:txBody>
          <a:bodyPr>
            <a:noAutofit/>
          </a:bodyPr>
          <a:lstStyle/>
          <a:p>
            <a:r>
              <a:rPr lang="zh-TW" altLang="en-US" sz="2800" dirty="0" smtClean="0"/>
              <a:t>惠特科技 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>
                <a:effectLst/>
              </a:rPr>
              <a:t>Probe </a:t>
            </a:r>
            <a:r>
              <a:rPr lang="en-US" altLang="zh-TW" sz="2800" dirty="0">
                <a:effectLst/>
              </a:rPr>
              <a:t>- Motion 3-Axis system </a:t>
            </a:r>
            <a:r>
              <a:rPr lang="zh-TW" altLang="en-US" sz="2800" dirty="0">
                <a:effectLst/>
              </a:rPr>
              <a:t>升級案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447800"/>
            <a:ext cx="8034096" cy="4861520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工作職掌</a:t>
            </a:r>
            <a:r>
              <a:rPr lang="en-US" altLang="zh-TW" sz="2000" dirty="0"/>
              <a:t>: 1</a:t>
            </a:r>
            <a:r>
              <a:rPr lang="zh-TW" altLang="en-US" sz="2000" dirty="0"/>
              <a:t>人兼</a:t>
            </a:r>
            <a:r>
              <a:rPr lang="en-US" altLang="zh-TW" sz="2000" dirty="0"/>
              <a:t>Owner</a:t>
            </a:r>
          </a:p>
          <a:p>
            <a:r>
              <a:rPr lang="zh-TW" altLang="en-US" sz="2000" dirty="0"/>
              <a:t>使用</a:t>
            </a:r>
            <a:r>
              <a:rPr lang="en-US" altLang="zh-TW" sz="2000" dirty="0"/>
              <a:t>Skill - C++, C#, </a:t>
            </a:r>
            <a:r>
              <a:rPr lang="en-US" altLang="zh-TW" sz="2000" dirty="0" err="1"/>
              <a:t>Winform</a:t>
            </a:r>
            <a:r>
              <a:rPr lang="en-US" altLang="zh-TW" sz="2000" dirty="0"/>
              <a:t>, State Pattern, Win32 API, IPC, Vision, Motion, Bode plot</a:t>
            </a:r>
          </a:p>
          <a:p>
            <a:r>
              <a:rPr lang="zh-TW" altLang="en-US" sz="2000" dirty="0"/>
              <a:t>主要成果</a:t>
            </a:r>
            <a:r>
              <a:rPr lang="en-US" altLang="zh-TW" sz="2000" dirty="0"/>
              <a:t>:</a:t>
            </a:r>
          </a:p>
          <a:p>
            <a:r>
              <a:rPr lang="zh-TW" altLang="en-US" sz="2000" dirty="0"/>
              <a:t>重啟前人停擺兩年的專案進入試量產</a:t>
            </a:r>
          </a:p>
          <a:p>
            <a:r>
              <a:rPr lang="zh-TW" altLang="en-US" sz="2000" dirty="0"/>
              <a:t>達成 可控精度為</a:t>
            </a:r>
            <a:r>
              <a:rPr lang="en-US" altLang="zh-TW" sz="2000" dirty="0"/>
              <a:t>0.1</a:t>
            </a:r>
            <a:r>
              <a:rPr lang="zh-TW" altLang="en-US" sz="2000" dirty="0"/>
              <a:t>微米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dut</a:t>
            </a:r>
            <a:r>
              <a:rPr lang="en-US" altLang="zh-TW" sz="2000" dirty="0"/>
              <a:t> </a:t>
            </a:r>
            <a:r>
              <a:rPr lang="en-US" altLang="zh-TW" sz="2000" dirty="0" err="1"/>
              <a:t>sizem</a:t>
            </a:r>
            <a:r>
              <a:rPr lang="zh-TW" altLang="en-US" sz="2000" dirty="0"/>
              <a:t>約</a:t>
            </a:r>
            <a:r>
              <a:rPr lang="en-US" altLang="zh-TW" sz="2000" dirty="0"/>
              <a:t>30</a:t>
            </a:r>
            <a:r>
              <a:rPr lang="zh-TW" altLang="en-US" sz="2000" dirty="0"/>
              <a:t>條</a:t>
            </a:r>
            <a:r>
              <a:rPr lang="en-US" altLang="zh-TW" sz="2000" dirty="0"/>
              <a:t>, motion cycle time</a:t>
            </a:r>
            <a:r>
              <a:rPr lang="zh-TW" altLang="en-US" sz="2000" dirty="0"/>
              <a:t>為</a:t>
            </a:r>
            <a:r>
              <a:rPr lang="en-US" altLang="zh-TW" sz="2000" dirty="0"/>
              <a:t>16ms</a:t>
            </a:r>
          </a:p>
          <a:p>
            <a:r>
              <a:rPr lang="zh-TW" altLang="en-US" sz="2000" dirty="0"/>
              <a:t>特色</a:t>
            </a:r>
            <a:r>
              <a:rPr lang="en-US" altLang="zh-TW" sz="2000" dirty="0"/>
              <a:t>:</a:t>
            </a:r>
          </a:p>
          <a:p>
            <a:r>
              <a:rPr lang="zh-TW" altLang="en-US" sz="2000" dirty="0"/>
              <a:t>職掌軟體外</a:t>
            </a:r>
            <a:r>
              <a:rPr lang="en-US" altLang="zh-TW" sz="2000" dirty="0"/>
              <a:t>, </a:t>
            </a:r>
            <a:r>
              <a:rPr lang="zh-TW" altLang="en-US" sz="2000" dirty="0"/>
              <a:t>能發揮跨領域溝通整合</a:t>
            </a:r>
            <a:r>
              <a:rPr lang="en-US" altLang="zh-TW" sz="2000" dirty="0"/>
              <a:t>, </a:t>
            </a:r>
            <a:r>
              <a:rPr lang="zh-TW" altLang="en-US" sz="2000" dirty="0"/>
              <a:t>解決機構</a:t>
            </a:r>
            <a:r>
              <a:rPr lang="en-US" altLang="zh-TW" sz="2000" dirty="0"/>
              <a:t>/EE/</a:t>
            </a:r>
            <a:r>
              <a:rPr lang="zh-TW" altLang="en-US" sz="2000" dirty="0"/>
              <a:t>物理問題</a:t>
            </a:r>
            <a:r>
              <a:rPr lang="en-US" altLang="zh-TW" sz="2000" dirty="0"/>
              <a:t>, </a:t>
            </a:r>
            <a:r>
              <a:rPr lang="zh-TW" altLang="en-US" sz="2000" dirty="0"/>
              <a:t>達成商業價值</a:t>
            </a:r>
          </a:p>
          <a:p>
            <a:r>
              <a:rPr lang="zh-TW" altLang="en-US" sz="2000" dirty="0"/>
              <a:t>每片藍膜可上下料後調整針位數次，在每個</a:t>
            </a:r>
            <a:r>
              <a:rPr lang="en-US" altLang="zh-TW" sz="2000" dirty="0" err="1"/>
              <a:t>dut</a:t>
            </a:r>
            <a:r>
              <a:rPr lang="zh-TW" altLang="en-US" sz="2000" dirty="0"/>
              <a:t>上的每個</a:t>
            </a:r>
            <a:r>
              <a:rPr lang="en-US" altLang="zh-TW" sz="2000" dirty="0"/>
              <a:t>pad</a:t>
            </a:r>
            <a:r>
              <a:rPr lang="zh-TW" altLang="en-US" sz="2000" dirty="0"/>
              <a:t>精準戳滿</a:t>
            </a:r>
            <a:r>
              <a:rPr lang="en-US" altLang="zh-TW" sz="2000" dirty="0"/>
              <a:t>6</a:t>
            </a:r>
            <a:r>
              <a:rPr lang="zh-TW" altLang="en-US" sz="2000" dirty="0"/>
              <a:t>個一抹淺淺不戳破薄膜的針</a:t>
            </a:r>
            <a:r>
              <a:rPr lang="zh-TW" altLang="en-US" sz="2000" dirty="0" smtClean="0"/>
              <a:t>痕</a:t>
            </a:r>
            <a:endParaRPr lang="en-US" altLang="zh-TW" sz="2000" dirty="0" smtClean="0"/>
          </a:p>
          <a:p>
            <a:endParaRPr lang="en-US" altLang="zh-TW" sz="2000" dirty="0"/>
          </a:p>
          <a:p>
            <a:r>
              <a:rPr lang="zh-TW" altLang="en-US" sz="2000" dirty="0">
                <a:hlinkClick r:id="rId2"/>
              </a:rPr>
              <a:t>詳細技術專案細節</a:t>
            </a:r>
            <a:endParaRPr lang="zh-TW" altLang="en-US" sz="2000" dirty="0"/>
          </a:p>
          <a:p>
            <a:endParaRPr lang="zh-TW" altLang="en-US" sz="2000" dirty="0"/>
          </a:p>
        </p:txBody>
      </p:sp>
      <p:pic>
        <p:nvPicPr>
          <p:cNvPr id="15362" name="Picture 2" descr="D:\面試資料\機械控制\logo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76672"/>
            <a:ext cx="787077" cy="78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(1/7)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324456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photonics </a:t>
            </a:r>
            <a:r>
              <a:rPr lang="en-US" altLang="zh-TW" sz="4400" dirty="0" smtClean="0"/>
              <a:t>automation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6387" name="Picture 3" descr="D:\面試資料\機械控制\563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340768"/>
            <a:ext cx="2808312" cy="5023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D:\面試資料\機械控制\20180315_0940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293096"/>
            <a:ext cx="3218408" cy="181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9" name="Picture 5" descr="D:\面試資料\機械控制\20180419_085857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72816"/>
            <a:ext cx="3316064" cy="18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5" action="ppaction://hlinksldjump"/>
              </a:rPr>
              <a:t>Top</a:t>
            </a:r>
            <a:r>
              <a:rPr lang="en-US" altLang="zh-TW" u="sng" dirty="0" smtClean="0"/>
              <a:t>(2/7)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316201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3608" y="332656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Develop </a:t>
            </a:r>
            <a:r>
              <a:rPr lang="en-US" altLang="zh-TW" dirty="0"/>
              <a:t>motion </a:t>
            </a:r>
            <a:r>
              <a:rPr lang="en-US" altLang="zh-TW" dirty="0" smtClean="0"/>
              <a:t>system(linear)</a:t>
            </a:r>
            <a:endParaRPr lang="zh-TW" altLang="en-US" dirty="0"/>
          </a:p>
        </p:txBody>
      </p:sp>
      <p:pic>
        <p:nvPicPr>
          <p:cNvPr id="17410" name="Picture 2" descr="D:\面試資料\機械控制\IMAG313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2"/>
            <a:ext cx="3973468" cy="216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 descr="D:\面試資料\機械控制\line_150595973281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955008"/>
            <a:ext cx="3973468" cy="223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:\面試資料\機械控制\20180315_15334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332" y="1556792"/>
            <a:ext cx="2907567" cy="516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7956376" y="6309320"/>
            <a:ext cx="989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5" action="ppaction://hlinksldjump"/>
              </a:rPr>
              <a:t>Top</a:t>
            </a:r>
            <a:r>
              <a:rPr lang="en-US" altLang="zh-TW" u="sng" dirty="0" smtClean="0"/>
              <a:t>(5/7)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149204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Needle trace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42280" y="2288024"/>
            <a:ext cx="8229600" cy="4525963"/>
          </a:xfrm>
        </p:spPr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pic>
        <p:nvPicPr>
          <p:cNvPr id="5" name="Picture 4" descr="D:\面試資料\機械控制\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256" y="1556792"/>
            <a:ext cx="7964935" cy="49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7982355" y="6302672"/>
            <a:ext cx="11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(4/7)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54827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auto </a:t>
            </a:r>
            <a:r>
              <a:rPr lang="en-US" altLang="zh-TW" dirty="0" smtClean="0"/>
              <a:t>loading wafer </a:t>
            </a:r>
            <a:r>
              <a:rPr lang="en-US" altLang="zh-TW" dirty="0"/>
              <a:t>cassette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9458" name="Picture 2" descr="D:\面試資料\機械控制\20180511_13145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4784"/>
            <a:ext cx="8064896" cy="453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7884368" y="6309320"/>
            <a:ext cx="1061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(7/7)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9366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     惠特科技 </a:t>
            </a:r>
            <a:r>
              <a:rPr lang="en-US" altLang="zh-TW" dirty="0" smtClean="0">
                <a:effectLst/>
              </a:rPr>
              <a:t>- Probe </a:t>
            </a:r>
            <a:r>
              <a:rPr lang="en-US" altLang="zh-TW" dirty="0">
                <a:effectLst/>
              </a:rPr>
              <a:t>- Vision CCD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sz="1800" dirty="0"/>
              <a:t>工作職掌</a:t>
            </a:r>
            <a:r>
              <a:rPr lang="en-US" altLang="zh-TW" sz="1800" dirty="0"/>
              <a:t>: 1</a:t>
            </a:r>
            <a:r>
              <a:rPr lang="zh-TW" altLang="en-US" sz="1800" dirty="0"/>
              <a:t>人兼</a:t>
            </a:r>
            <a:r>
              <a:rPr lang="en-US" altLang="zh-TW" sz="1800" dirty="0" smtClean="0"/>
              <a:t>Owner</a:t>
            </a:r>
          </a:p>
          <a:p>
            <a:endParaRPr lang="en-US" altLang="zh-TW" sz="1800" dirty="0"/>
          </a:p>
          <a:p>
            <a:r>
              <a:rPr lang="zh-TW" altLang="en-US" sz="1800" dirty="0"/>
              <a:t>使用</a:t>
            </a:r>
            <a:r>
              <a:rPr lang="en-US" altLang="zh-TW" sz="1800" dirty="0"/>
              <a:t>Skill - C++, C#, </a:t>
            </a:r>
            <a:r>
              <a:rPr lang="en-US" altLang="zh-TW" sz="1800" dirty="0" err="1"/>
              <a:t>Winform</a:t>
            </a:r>
            <a:r>
              <a:rPr lang="en-US" altLang="zh-TW" sz="1800" dirty="0"/>
              <a:t>, State Pattern, Memory-mapped file, Win32 API, IPC, Vision, Mil, AOI, </a:t>
            </a:r>
            <a:r>
              <a:rPr lang="en-US" altLang="zh-TW" sz="1800" dirty="0" err="1" smtClean="0"/>
              <a:t>videostream</a:t>
            </a:r>
            <a:endParaRPr lang="en-US" altLang="zh-TW" sz="1800" dirty="0" smtClean="0"/>
          </a:p>
          <a:p>
            <a:endParaRPr lang="en-US" altLang="zh-TW" sz="1800" dirty="0"/>
          </a:p>
          <a:p>
            <a:r>
              <a:rPr lang="zh-TW" altLang="en-US" sz="1800" dirty="0"/>
              <a:t>主要成果</a:t>
            </a:r>
            <a:r>
              <a:rPr lang="en-US" altLang="zh-TW" sz="1800" dirty="0"/>
              <a:t>:</a:t>
            </a:r>
          </a:p>
          <a:p>
            <a:r>
              <a:rPr lang="zh-TW" altLang="en-US" sz="1800" dirty="0"/>
              <a:t>降低採購成本 </a:t>
            </a:r>
            <a:r>
              <a:rPr lang="en-US" altLang="zh-TW" sz="1800" dirty="0"/>
              <a:t>65%</a:t>
            </a:r>
          </a:p>
          <a:p>
            <a:r>
              <a:rPr lang="zh-TW" altLang="en-US" sz="1800" dirty="0"/>
              <a:t>規劃教育訓練，兩週內快速上手，期間訓練過</a:t>
            </a:r>
            <a:r>
              <a:rPr lang="en-US" altLang="zh-TW" sz="1800" dirty="0"/>
              <a:t>2</a:t>
            </a:r>
            <a:r>
              <a:rPr lang="zh-TW" altLang="en-US" sz="1800" dirty="0"/>
              <a:t>員</a:t>
            </a:r>
            <a:r>
              <a:rPr lang="zh-TW" altLang="en-US" sz="1800" dirty="0" smtClean="0"/>
              <a:t>，流動率</a:t>
            </a:r>
            <a:r>
              <a:rPr lang="en-US" altLang="zh-TW" sz="1800" dirty="0" smtClean="0"/>
              <a:t>0%</a:t>
            </a:r>
            <a:endParaRPr lang="en-US" altLang="zh-TW" sz="1800" dirty="0"/>
          </a:p>
          <a:p>
            <a:r>
              <a:rPr lang="zh-TW" altLang="en-US" sz="1800" dirty="0"/>
              <a:t>確保供貨能力，由原廠端確保交期</a:t>
            </a:r>
            <a:r>
              <a:rPr lang="zh-TW" altLang="en-US" sz="1800" dirty="0" smtClean="0"/>
              <a:t>為</a:t>
            </a:r>
            <a:r>
              <a:rPr lang="zh-TW" altLang="en-US" sz="1800" dirty="0"/>
              <a:t>一週</a:t>
            </a:r>
            <a:r>
              <a:rPr lang="zh-TW" altLang="en-US" sz="1800" dirty="0" smtClean="0"/>
              <a:t>內</a:t>
            </a:r>
            <a:r>
              <a:rPr lang="zh-TW" altLang="en-US" sz="1800" dirty="0"/>
              <a:t>快速</a:t>
            </a:r>
            <a:r>
              <a:rPr lang="zh-TW" altLang="en-US" sz="1800" dirty="0" smtClean="0"/>
              <a:t>供貨</a:t>
            </a:r>
            <a:endParaRPr lang="en-US" altLang="zh-TW" sz="1800" dirty="0" smtClean="0"/>
          </a:p>
          <a:p>
            <a:endParaRPr lang="zh-TW" altLang="en-US" sz="1800" dirty="0"/>
          </a:p>
          <a:p>
            <a:r>
              <a:rPr lang="zh-TW" altLang="en-US" sz="1800" dirty="0"/>
              <a:t>特色</a:t>
            </a:r>
            <a:r>
              <a:rPr lang="en-US" altLang="zh-TW" sz="1800" dirty="0"/>
              <a:t>:</a:t>
            </a:r>
          </a:p>
          <a:p>
            <a:r>
              <a:rPr lang="zh-TW" altLang="en-US" sz="1800" dirty="0"/>
              <a:t>提出物件化概念，重構架構實現模組化</a:t>
            </a:r>
          </a:p>
          <a:p>
            <a:r>
              <a:rPr lang="zh-TW" altLang="en-US" sz="1800" dirty="0"/>
              <a:t>主動發揮開發以外談判與領導能力，看準供應商需求，僅藉預估量作談判籌碼，換取代理商</a:t>
            </a:r>
            <a:r>
              <a:rPr lang="en-US" altLang="zh-TW" sz="1800" dirty="0"/>
              <a:t>/</a:t>
            </a:r>
            <a:r>
              <a:rPr lang="zh-TW" altLang="en-US" sz="1800" dirty="0"/>
              <a:t>原廠的支援</a:t>
            </a:r>
            <a:r>
              <a:rPr lang="zh-TW" altLang="en-US" sz="1800" dirty="0" smtClean="0"/>
              <a:t>度</a:t>
            </a:r>
            <a:endParaRPr lang="en-US" altLang="zh-TW" sz="1800" dirty="0" smtClean="0"/>
          </a:p>
          <a:p>
            <a:endParaRPr lang="en-US" altLang="zh-TW" sz="1800" dirty="0"/>
          </a:p>
          <a:p>
            <a:r>
              <a:rPr lang="zh-TW" altLang="en-US" sz="1800" dirty="0">
                <a:hlinkClick r:id="rId2"/>
              </a:rPr>
              <a:t>技術與專案詳細</a:t>
            </a:r>
            <a:endParaRPr lang="zh-TW" altLang="en-US" sz="1800" dirty="0"/>
          </a:p>
        </p:txBody>
      </p:sp>
      <p:pic>
        <p:nvPicPr>
          <p:cNvPr id="15362" name="Picture 2" descr="D:\面試資料\機械控制\logo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636" y="476672"/>
            <a:ext cx="787077" cy="78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(1/2)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325387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pic>
        <p:nvPicPr>
          <p:cNvPr id="18434" name="Picture 2" descr="D:\面試資料\機械控制\20180601_1506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832" y="4026460"/>
            <a:ext cx="4326112" cy="24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2" y="433737"/>
            <a:ext cx="4261479" cy="3043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014" y="3555970"/>
            <a:ext cx="4832083" cy="336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381" y="332656"/>
            <a:ext cx="436780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8028384" y="6309320"/>
            <a:ext cx="91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6" action="ppaction://hlinksldjump"/>
              </a:rPr>
              <a:t>Top</a:t>
            </a:r>
            <a:r>
              <a:rPr lang="en-US" altLang="zh-TW" u="sng" dirty="0" smtClean="0"/>
              <a:t>(2/2)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96289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881968" cy="1143000"/>
          </a:xfrm>
        </p:spPr>
        <p:txBody>
          <a:bodyPr>
            <a:noAutofit/>
          </a:bodyPr>
          <a:lstStyle/>
          <a:p>
            <a:r>
              <a:rPr lang="en-US" altLang="zh-TW" sz="2800" b="1" dirty="0" smtClean="0">
                <a:effectLst/>
              </a:rPr>
              <a:t>Probe </a:t>
            </a:r>
            <a:r>
              <a:rPr lang="en-US" altLang="zh-TW" sz="2800" b="1" dirty="0">
                <a:effectLst/>
              </a:rPr>
              <a:t>- source meter </a:t>
            </a:r>
            <a:r>
              <a:rPr lang="zh-TW" altLang="en-US" sz="2800" b="1" dirty="0">
                <a:effectLst/>
              </a:rPr>
              <a:t>主從架構優化案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/>
              <a:t>工作職掌</a:t>
            </a:r>
            <a:r>
              <a:rPr lang="en-US" altLang="zh-TW" sz="1800" dirty="0"/>
              <a:t>: 1</a:t>
            </a:r>
            <a:r>
              <a:rPr lang="zh-TW" altLang="en-US" sz="1800" dirty="0"/>
              <a:t>人兼</a:t>
            </a:r>
            <a:r>
              <a:rPr lang="en-US" altLang="zh-TW" sz="1800" dirty="0"/>
              <a:t>Owner</a:t>
            </a:r>
          </a:p>
          <a:p>
            <a:r>
              <a:rPr lang="zh-TW" altLang="en-US" sz="1800" dirty="0"/>
              <a:t>使用</a:t>
            </a:r>
            <a:r>
              <a:rPr lang="en-US" altLang="zh-TW" sz="1800" dirty="0"/>
              <a:t>Skill - C++, C#, </a:t>
            </a:r>
            <a:r>
              <a:rPr lang="en-US" altLang="zh-TW" sz="1800" dirty="0" err="1"/>
              <a:t>Winform</a:t>
            </a:r>
            <a:r>
              <a:rPr lang="en-US" altLang="zh-TW" sz="1800" dirty="0"/>
              <a:t>, memory management, State Pattern, Memory-mapped file, Win32 API, IPC, AOI, </a:t>
            </a:r>
            <a:r>
              <a:rPr lang="en-US" altLang="zh-TW" sz="1800" dirty="0" err="1"/>
              <a:t>videostream</a:t>
            </a:r>
            <a:endParaRPr lang="en-US" altLang="zh-TW" sz="1800" dirty="0"/>
          </a:p>
          <a:p>
            <a:r>
              <a:rPr lang="zh-TW" altLang="en-US" sz="1800" dirty="0"/>
              <a:t>主要成果</a:t>
            </a:r>
            <a:r>
              <a:rPr lang="en-US" altLang="zh-TW" sz="1800" dirty="0"/>
              <a:t>:</a:t>
            </a:r>
          </a:p>
          <a:p>
            <a:r>
              <a:rPr lang="zh-TW" altLang="en-US" sz="1800" dirty="0"/>
              <a:t>主動提出解決方案並解決問題，僅費</a:t>
            </a:r>
            <a:r>
              <a:rPr lang="en-US" altLang="zh-TW" sz="1800" dirty="0"/>
              <a:t>2</a:t>
            </a:r>
            <a:r>
              <a:rPr lang="zh-TW" altLang="en-US" sz="1800" dirty="0"/>
              <a:t>週解決長達</a:t>
            </a:r>
            <a:r>
              <a:rPr lang="en-US" altLang="zh-TW" sz="1800" dirty="0"/>
              <a:t>6</a:t>
            </a:r>
            <a:r>
              <a:rPr lang="zh-TW" altLang="en-US" sz="1800" dirty="0"/>
              <a:t>個月的問題</a:t>
            </a:r>
            <a:r>
              <a:rPr lang="en-US" altLang="zh-TW" sz="1800" dirty="0"/>
              <a:t>, </a:t>
            </a:r>
            <a:r>
              <a:rPr lang="zh-TW" altLang="en-US" sz="1800" dirty="0"/>
              <a:t>並解決生產線停線危機</a:t>
            </a:r>
          </a:p>
          <a:p>
            <a:r>
              <a:rPr lang="zh-TW" altLang="en-US" sz="1800" dirty="0"/>
              <a:t>特色</a:t>
            </a:r>
            <a:r>
              <a:rPr lang="en-US" altLang="zh-TW" sz="1800" dirty="0"/>
              <a:t>:</a:t>
            </a:r>
          </a:p>
          <a:p>
            <a:r>
              <a:rPr lang="zh-TW" altLang="en-US" sz="1800" dirty="0"/>
              <a:t>草船借箭</a:t>
            </a:r>
            <a:r>
              <a:rPr lang="en-US" altLang="zh-TW" sz="1800" dirty="0"/>
              <a:t>, </a:t>
            </a:r>
            <a:r>
              <a:rPr lang="zh-TW" altLang="en-US" sz="1800" dirty="0"/>
              <a:t>請前案</a:t>
            </a:r>
            <a:r>
              <a:rPr lang="en-US" altLang="zh-TW" sz="1800" dirty="0"/>
              <a:t>CCD</a:t>
            </a:r>
            <a:r>
              <a:rPr lang="zh-TW" altLang="en-US" sz="1800" dirty="0"/>
              <a:t>原廠</a:t>
            </a:r>
            <a:r>
              <a:rPr lang="en-US" altLang="zh-TW" sz="1800" dirty="0"/>
              <a:t>RD</a:t>
            </a:r>
            <a:r>
              <a:rPr lang="zh-TW" altLang="en-US" sz="1800" dirty="0"/>
              <a:t>技術支援</a:t>
            </a:r>
            <a:r>
              <a:rPr lang="en-US" altLang="zh-TW" sz="1800" dirty="0"/>
              <a:t>, </a:t>
            </a:r>
            <a:r>
              <a:rPr lang="zh-TW" altLang="en-US" sz="1800" dirty="0"/>
              <a:t>驗證後對當前原廠進行駁論</a:t>
            </a:r>
          </a:p>
          <a:p>
            <a:r>
              <a:rPr lang="zh-TW" altLang="en-US" sz="1800" dirty="0"/>
              <a:t>風險管理</a:t>
            </a:r>
            <a:r>
              <a:rPr lang="en-US" altLang="zh-TW" sz="1800" dirty="0"/>
              <a:t>, </a:t>
            </a:r>
            <a:r>
              <a:rPr lang="zh-TW" altLang="en-US" sz="1800" dirty="0"/>
              <a:t>同步採藉經驗</a:t>
            </a:r>
            <a:r>
              <a:rPr lang="en-US" altLang="zh-TW" sz="1800" dirty="0"/>
              <a:t>, </a:t>
            </a:r>
            <a:r>
              <a:rPr lang="zh-TW" altLang="en-US" sz="1800" dirty="0"/>
              <a:t>導入</a:t>
            </a:r>
            <a:r>
              <a:rPr lang="en-US" altLang="zh-TW" sz="1800" dirty="0"/>
              <a:t>Multiprocessing </a:t>
            </a:r>
            <a:r>
              <a:rPr lang="zh-TW" altLang="en-US" sz="1800" dirty="0"/>
              <a:t>進行記憶體上分配管理</a:t>
            </a:r>
            <a:r>
              <a:rPr lang="en-US" altLang="zh-TW" sz="1800" dirty="0"/>
              <a:t>, </a:t>
            </a:r>
            <a:r>
              <a:rPr lang="zh-TW" altLang="en-US" sz="1800" dirty="0"/>
              <a:t>快速解決</a:t>
            </a:r>
            <a:r>
              <a:rPr lang="zh-TW" altLang="en-US" sz="1800" dirty="0" smtClean="0"/>
              <a:t>問題</a:t>
            </a:r>
            <a:endParaRPr lang="en-US" altLang="zh-TW" sz="1800" dirty="0" smtClean="0"/>
          </a:p>
          <a:p>
            <a:endParaRPr lang="en-US" altLang="zh-TW" sz="1800" dirty="0"/>
          </a:p>
          <a:p>
            <a:r>
              <a:rPr lang="zh-TW" altLang="en-US" sz="1800" dirty="0">
                <a:hlinkClick r:id="rId2"/>
              </a:rPr>
              <a:t>技術與專案</a:t>
            </a:r>
            <a:r>
              <a:rPr lang="zh-TW" altLang="en-US" sz="1800" dirty="0" smtClean="0">
                <a:hlinkClick r:id="rId2"/>
              </a:rPr>
              <a:t>詳細</a:t>
            </a:r>
            <a:endParaRPr lang="zh-TW" altLang="en-US" sz="1800" dirty="0"/>
          </a:p>
        </p:txBody>
      </p:sp>
      <p:pic>
        <p:nvPicPr>
          <p:cNvPr id="15362" name="Picture 2" descr="D:\面試資料\機械控制\logo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636" y="476672"/>
            <a:ext cx="787077" cy="78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7884368" y="6309320"/>
            <a:ext cx="1061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(1/1)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314944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800" b="1" dirty="0" smtClean="0"/>
              <a:t>    </a:t>
            </a:r>
            <a:r>
              <a:rPr lang="en-US" altLang="zh-TW" sz="2800" b="1" dirty="0" smtClean="0"/>
              <a:t>      </a:t>
            </a:r>
            <a:r>
              <a:rPr lang="zh-TW" altLang="en-US" sz="2800" b="1" dirty="0" smtClean="0"/>
              <a:t>    三商電腦</a:t>
            </a:r>
            <a:r>
              <a:rPr lang="en-US" altLang="zh-TW" sz="2800" b="1" dirty="0" smtClean="0">
                <a:latin typeface="+mn-ea"/>
              </a:rPr>
              <a:t>-</a:t>
            </a:r>
            <a:r>
              <a:rPr lang="zh-TW" altLang="en-US" sz="2800" b="1" dirty="0">
                <a:effectLst/>
              </a:rPr>
              <a:t>台北捷運萬大線車站軟韌體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 smtClean="0"/>
              <a:t>工作</a:t>
            </a:r>
            <a:r>
              <a:rPr lang="zh-TW" altLang="en-US" sz="1600" dirty="0"/>
              <a:t>職掌</a:t>
            </a:r>
            <a:r>
              <a:rPr lang="en-US" altLang="zh-TW" sz="1600" dirty="0"/>
              <a:t>: SD/SW </a:t>
            </a:r>
            <a:r>
              <a:rPr lang="zh-TW" altLang="en-US" sz="1600" dirty="0"/>
              <a:t>管理一人，同時負責其他</a:t>
            </a:r>
            <a:r>
              <a:rPr lang="en-US" altLang="zh-TW" sz="1600" dirty="0"/>
              <a:t>GATE</a:t>
            </a:r>
            <a:r>
              <a:rPr lang="zh-TW" altLang="en-US" sz="1600" dirty="0"/>
              <a:t>、</a:t>
            </a:r>
            <a:r>
              <a:rPr lang="en-US" altLang="zh-TW" sz="1600" dirty="0"/>
              <a:t>CCBE</a:t>
            </a:r>
            <a:r>
              <a:rPr lang="zh-TW" altLang="en-US" sz="1600" dirty="0"/>
              <a:t>、</a:t>
            </a:r>
            <a:r>
              <a:rPr lang="en-US" altLang="zh-TW" sz="1600" dirty="0"/>
              <a:t>UPS</a:t>
            </a:r>
            <a:r>
              <a:rPr lang="zh-TW" altLang="en-US" sz="1600" dirty="0"/>
              <a:t>整合因與過往重複性高，此處僅說明電文部分</a:t>
            </a:r>
          </a:p>
          <a:p>
            <a:r>
              <a:rPr lang="zh-TW" altLang="en-US" sz="1600" dirty="0"/>
              <a:t>使用</a:t>
            </a:r>
            <a:r>
              <a:rPr lang="en-US" altLang="zh-TW" sz="1600" dirty="0"/>
              <a:t>Skill - C++, C#, </a:t>
            </a:r>
            <a:r>
              <a:rPr lang="en-US" altLang="zh-TW" sz="1600" dirty="0" err="1"/>
              <a:t>Winform</a:t>
            </a:r>
            <a:r>
              <a:rPr lang="en-US" altLang="zh-TW" sz="1600" dirty="0"/>
              <a:t>, FP, SOLID, Singleton</a:t>
            </a:r>
          </a:p>
          <a:p>
            <a:r>
              <a:rPr lang="zh-TW" altLang="en-US" sz="1600" dirty="0"/>
              <a:t>主要成果</a:t>
            </a:r>
            <a:r>
              <a:rPr lang="en-US" altLang="zh-TW" sz="1600" dirty="0"/>
              <a:t>:</a:t>
            </a:r>
          </a:p>
          <a:p>
            <a:r>
              <a:rPr lang="zh-TW" altLang="en-US" sz="1600" dirty="0"/>
              <a:t>實現台北捷運規範的通訊電文編解譯函式庫，之後應用於該專案內所有設備彼此溝通的底層邏輯使用</a:t>
            </a:r>
          </a:p>
          <a:p>
            <a:r>
              <a:rPr lang="zh-TW" altLang="en-US" sz="1600" dirty="0"/>
              <a:t>起初本為新人考核題目，但由於架構規劃得宜，可靠度與移植性受到認可，轉為重點專案並應用於各項設備中</a:t>
            </a:r>
          </a:p>
          <a:p>
            <a:r>
              <a:rPr lang="zh-TW" altLang="en-US" sz="1600" dirty="0"/>
              <a:t>特色</a:t>
            </a:r>
            <a:r>
              <a:rPr lang="en-US" altLang="zh-TW" sz="1600" dirty="0"/>
              <a:t>:</a:t>
            </a:r>
          </a:p>
          <a:p>
            <a:r>
              <a:rPr lang="zh-TW" altLang="en-US" sz="1600" dirty="0"/>
              <a:t>首次採用 </a:t>
            </a:r>
            <a:r>
              <a:rPr lang="en-US" altLang="zh-TW" sz="1600" dirty="0"/>
              <a:t>SOLID FP</a:t>
            </a:r>
            <a:r>
              <a:rPr lang="zh-TW" altLang="en-US" sz="1600" dirty="0"/>
              <a:t>概念，並獲得</a:t>
            </a:r>
            <a:r>
              <a:rPr lang="zh-TW" altLang="en-US" sz="1600" dirty="0" smtClean="0"/>
              <a:t>成效</a:t>
            </a:r>
            <a:endParaRPr lang="en-US" altLang="zh-TW" sz="1600" dirty="0" smtClean="0"/>
          </a:p>
          <a:p>
            <a:endParaRPr lang="en-US" altLang="zh-TW" sz="1600" dirty="0"/>
          </a:p>
          <a:p>
            <a:endParaRPr lang="en-US" altLang="zh-TW" sz="1600" dirty="0" smtClean="0"/>
          </a:p>
          <a:p>
            <a:endParaRPr lang="en-US" altLang="zh-TW" sz="1600" dirty="0"/>
          </a:p>
          <a:p>
            <a:endParaRPr lang="en-US" altLang="zh-TW" sz="1600" dirty="0" smtClean="0"/>
          </a:p>
          <a:p>
            <a:r>
              <a:rPr lang="zh-TW" altLang="en-US" sz="1600" dirty="0">
                <a:hlinkClick r:id="rId2"/>
              </a:rPr>
              <a:t>技術與專案詳細</a:t>
            </a:r>
            <a:endParaRPr lang="zh-TW" altLang="en-US" sz="1600" dirty="0"/>
          </a:p>
          <a:p>
            <a:endParaRPr lang="zh-TW" altLang="en-US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8700"/>
            <a:ext cx="1581943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812360" y="6309320"/>
            <a:ext cx="11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(1/2)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226007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80728"/>
            <a:ext cx="7765752" cy="498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884368" y="6309320"/>
            <a:ext cx="1061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(2/2)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155276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59832" y="523007"/>
            <a:ext cx="5944704" cy="620109"/>
          </a:xfrm>
        </p:spPr>
        <p:txBody>
          <a:bodyPr>
            <a:noAutofit/>
          </a:bodyPr>
          <a:lstStyle/>
          <a:p>
            <a:r>
              <a:rPr lang="zh-TW" altLang="en-US" sz="2400" dirty="0" smtClean="0">
                <a:effectLst/>
              </a:rPr>
              <a:t>   </a:t>
            </a:r>
            <a:r>
              <a:rPr lang="en-US" altLang="zh-TW" sz="2400" dirty="0" err="1" smtClean="0">
                <a:effectLst/>
              </a:rPr>
              <a:t>Nvidia</a:t>
            </a:r>
            <a:r>
              <a:rPr lang="en-US" altLang="zh-TW" sz="2400" dirty="0" smtClean="0">
                <a:effectLst/>
              </a:rPr>
              <a:t> </a:t>
            </a:r>
            <a:r>
              <a:rPr lang="en-US" altLang="zh-TW" sz="2400" dirty="0" err="1">
                <a:effectLst/>
              </a:rPr>
              <a:t>jetson</a:t>
            </a:r>
            <a:r>
              <a:rPr lang="en-US" altLang="zh-TW" sz="2400" dirty="0">
                <a:effectLst/>
              </a:rPr>
              <a:t> </a:t>
            </a:r>
            <a:r>
              <a:rPr lang="en-US" altLang="zh-TW" sz="2400" dirty="0" smtClean="0">
                <a:effectLst/>
              </a:rPr>
              <a:t>platform</a:t>
            </a:r>
            <a:r>
              <a:rPr lang="zh-TW" altLang="en-US" sz="2400" dirty="0" smtClean="0">
                <a:effectLst/>
              </a:rPr>
              <a:t> 串</a:t>
            </a:r>
            <a:r>
              <a:rPr lang="zh-TW" altLang="en-US" sz="2400" dirty="0">
                <a:effectLst/>
              </a:rPr>
              <a:t>流與使用者介面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43608" y="1447800"/>
            <a:ext cx="7890080" cy="4800600"/>
          </a:xfrm>
        </p:spPr>
        <p:txBody>
          <a:bodyPr>
            <a:noAutofit/>
          </a:bodyPr>
          <a:lstStyle/>
          <a:p>
            <a:r>
              <a:rPr lang="zh-TW" altLang="en-US" sz="1400" dirty="0" smtClean="0"/>
              <a:t>工作職掌</a:t>
            </a:r>
            <a:r>
              <a:rPr lang="en-US" altLang="zh-TW" sz="1400" dirty="0" smtClean="0"/>
              <a:t>: </a:t>
            </a:r>
            <a:r>
              <a:rPr lang="en-US" altLang="zh-TW" sz="1400" dirty="0" err="1" smtClean="0"/>
              <a:t>WebSite</a:t>
            </a:r>
            <a:r>
              <a:rPr lang="en-US" altLang="zh-TW" sz="1400" dirty="0" smtClean="0"/>
              <a:t> SA &amp; SD &amp; </a:t>
            </a:r>
            <a:r>
              <a:rPr lang="en-US" altLang="zh-TW" sz="1400" dirty="0" err="1" smtClean="0"/>
              <a:t>FullStack</a:t>
            </a:r>
            <a:endParaRPr lang="en-US" altLang="zh-TW" sz="1400" dirty="0" smtClean="0"/>
          </a:p>
          <a:p>
            <a:endParaRPr lang="en-US" altLang="zh-TW" sz="1400" dirty="0" smtClean="0"/>
          </a:p>
          <a:p>
            <a:r>
              <a:rPr lang="zh-TW" altLang="en-US" sz="1400" dirty="0" smtClean="0"/>
              <a:t>主要成果</a:t>
            </a:r>
            <a:r>
              <a:rPr lang="en-US" altLang="zh-TW" sz="1400" dirty="0" smtClean="0"/>
              <a:t>:</a:t>
            </a:r>
          </a:p>
          <a:p>
            <a:r>
              <a:rPr lang="zh-TW" altLang="en-US" sz="1400" dirty="0" smtClean="0"/>
              <a:t>網頁操作介面控制相機中，權限管控，影像設定，模型套用化，影像預覽功能</a:t>
            </a:r>
          </a:p>
          <a:p>
            <a:r>
              <a:rPr lang="zh-TW" altLang="en-US" sz="1400" dirty="0" smtClean="0"/>
              <a:t>代碼生成器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非</a:t>
            </a:r>
            <a:r>
              <a:rPr lang="en-US" altLang="zh-TW" sz="1400" dirty="0" smtClean="0"/>
              <a:t>AI)</a:t>
            </a:r>
            <a:r>
              <a:rPr lang="zh-TW" altLang="en-US" sz="1400" dirty="0" smtClean="0"/>
              <a:t>減少開發人力</a:t>
            </a:r>
            <a:r>
              <a:rPr lang="en-US" altLang="zh-TW" sz="1400" dirty="0" smtClean="0"/>
              <a:t>50%(2-&gt;1), </a:t>
            </a:r>
            <a:r>
              <a:rPr lang="zh-TW" altLang="en-US" sz="1400" dirty="0" smtClean="0"/>
              <a:t>開發效率提升</a:t>
            </a:r>
            <a:r>
              <a:rPr lang="en-US" altLang="zh-TW" sz="1400" dirty="0" smtClean="0"/>
              <a:t>90.48%(2Weeks-&gt;2Day) </a:t>
            </a:r>
            <a:r>
              <a:rPr lang="zh-TW" altLang="en-US" sz="1400" dirty="0" smtClean="0"/>
              <a:t>開發時間提升效率</a:t>
            </a:r>
            <a:r>
              <a:rPr lang="en-US" altLang="zh-TW" sz="1400" dirty="0" smtClean="0"/>
              <a:t>92.86%</a:t>
            </a:r>
          </a:p>
          <a:p>
            <a:r>
              <a:rPr lang="zh-TW" altLang="en-US" sz="1400" dirty="0" smtClean="0"/>
              <a:t>微服務與</a:t>
            </a:r>
            <a:r>
              <a:rPr lang="en-US" altLang="zh-TW" sz="1400" dirty="0" smtClean="0"/>
              <a:t>SQA </a:t>
            </a:r>
            <a:r>
              <a:rPr lang="zh-TW" altLang="en-US" sz="1400" dirty="0" smtClean="0"/>
              <a:t>提升品質與降低故障排除所需時間</a:t>
            </a:r>
            <a:r>
              <a:rPr lang="en-US" altLang="zh-TW" sz="1400" dirty="0" smtClean="0"/>
              <a:t>65%</a:t>
            </a:r>
          </a:p>
          <a:p>
            <a:endParaRPr lang="en-US" altLang="zh-TW" sz="1400" dirty="0" smtClean="0"/>
          </a:p>
          <a:p>
            <a:r>
              <a:rPr lang="zh-TW" altLang="en-US" sz="1400" dirty="0" smtClean="0"/>
              <a:t>特色</a:t>
            </a:r>
            <a:r>
              <a:rPr lang="en-US" altLang="zh-TW" sz="1400" dirty="0" smtClean="0"/>
              <a:t>:</a:t>
            </a:r>
          </a:p>
          <a:p>
            <a:r>
              <a:rPr lang="zh-TW" altLang="en-US" sz="1400" dirty="0" smtClean="0"/>
              <a:t>套用軟體思維，並規劃</a:t>
            </a:r>
            <a:r>
              <a:rPr lang="en-US" altLang="zh-TW" sz="1400" dirty="0" smtClean="0"/>
              <a:t>API</a:t>
            </a:r>
            <a:r>
              <a:rPr lang="zh-TW" altLang="en-US" sz="1400" dirty="0" smtClean="0"/>
              <a:t>文件格式，匯入後軟體後同步完成前端</a:t>
            </a:r>
            <a:r>
              <a:rPr lang="en-US" altLang="zh-TW" sz="1400" dirty="0" smtClean="0"/>
              <a:t>/</a:t>
            </a:r>
            <a:r>
              <a:rPr lang="zh-TW" altLang="en-US" sz="1400" dirty="0" smtClean="0"/>
              <a:t>後端</a:t>
            </a:r>
            <a:r>
              <a:rPr lang="en-US" altLang="zh-TW" sz="1400" dirty="0" smtClean="0"/>
              <a:t>/Swagger</a:t>
            </a:r>
            <a:r>
              <a:rPr lang="zh-TW" altLang="en-US" sz="1400" dirty="0" smtClean="0"/>
              <a:t>，大幅縮短</a:t>
            </a:r>
            <a:r>
              <a:rPr lang="en-US" altLang="zh-TW" sz="1400" dirty="0" smtClean="0"/>
              <a:t>Coding</a:t>
            </a:r>
            <a:r>
              <a:rPr lang="zh-TW" altLang="en-US" sz="1400" dirty="0" smtClean="0"/>
              <a:t>時間</a:t>
            </a:r>
          </a:p>
          <a:p>
            <a:r>
              <a:rPr lang="zh-TW" altLang="en-US" sz="1400" dirty="0" smtClean="0"/>
              <a:t>結合自身</a:t>
            </a:r>
            <a:r>
              <a:rPr lang="en-US" altLang="zh-TW" sz="1400" dirty="0" smtClean="0"/>
              <a:t>PM(</a:t>
            </a:r>
            <a:r>
              <a:rPr lang="zh-TW" altLang="en-US" sz="1400" dirty="0" smtClean="0"/>
              <a:t>專案管理</a:t>
            </a:r>
            <a:r>
              <a:rPr lang="en-US" altLang="zh-TW" sz="1400" dirty="0" smtClean="0"/>
              <a:t>)</a:t>
            </a:r>
            <a:r>
              <a:rPr lang="zh-TW" altLang="en-US" sz="1400" dirty="0" smtClean="0"/>
              <a:t>與</a:t>
            </a:r>
            <a:r>
              <a:rPr lang="en-US" altLang="zh-TW" sz="1400" dirty="0" smtClean="0"/>
              <a:t>SA(</a:t>
            </a:r>
            <a:r>
              <a:rPr lang="zh-TW" altLang="en-US" sz="1400" dirty="0" smtClean="0"/>
              <a:t>系統規劃</a:t>
            </a:r>
            <a:r>
              <a:rPr lang="en-US" altLang="zh-TW" sz="1400" dirty="0" smtClean="0"/>
              <a:t>)</a:t>
            </a:r>
            <a:r>
              <a:rPr lang="zh-TW" altLang="en-US" sz="1400" dirty="0" smtClean="0"/>
              <a:t>能力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快速與 </a:t>
            </a:r>
            <a:r>
              <a:rPr lang="en-US" altLang="zh-TW" sz="1400" dirty="0" smtClean="0"/>
              <a:t>FW/PM/AE</a:t>
            </a:r>
            <a:r>
              <a:rPr lang="zh-TW" altLang="en-US" sz="1400" dirty="0" smtClean="0"/>
              <a:t>人員快速溝通對焦需求與規劃</a:t>
            </a:r>
          </a:p>
          <a:p>
            <a:r>
              <a:rPr lang="zh-TW" altLang="en-US" sz="1400" dirty="0" smtClean="0"/>
              <a:t>導入容器化微服務與自動化</a:t>
            </a:r>
            <a:r>
              <a:rPr lang="en-US" altLang="zh-TW" sz="1400" dirty="0" smtClean="0"/>
              <a:t>SQA</a:t>
            </a:r>
            <a:r>
              <a:rPr lang="zh-TW" altLang="en-US" sz="1400" dirty="0" smtClean="0"/>
              <a:t>框架等機制，實現專案可測試性</a:t>
            </a:r>
            <a:r>
              <a:rPr lang="en-US" altLang="zh-TW" sz="1400" dirty="0" smtClean="0"/>
              <a:t>(Testability)</a:t>
            </a:r>
          </a:p>
          <a:p>
            <a:r>
              <a:rPr lang="zh-TW" altLang="en-US" sz="1400" dirty="0" smtClean="0"/>
              <a:t>獨自達成 開發 需求分析 系統規劃 專案排程 等需求</a:t>
            </a:r>
            <a:endParaRPr lang="en-US" altLang="zh-TW" sz="1400" dirty="0" smtClean="0"/>
          </a:p>
          <a:p>
            <a:endParaRPr lang="en-US" altLang="zh-TW" sz="1400" dirty="0" smtClean="0"/>
          </a:p>
          <a:p>
            <a:pPr marL="82296" indent="0">
              <a:buNone/>
            </a:pPr>
            <a:r>
              <a:rPr lang="zh-TW" altLang="en-US" sz="1400" dirty="0" smtClean="0">
                <a:hlinkClick r:id="rId2"/>
              </a:rPr>
              <a:t>技術與專案詳細</a:t>
            </a:r>
            <a:endParaRPr lang="en-US" altLang="zh-TW" sz="1400" dirty="0" smtClean="0"/>
          </a:p>
          <a:p>
            <a:endParaRPr lang="zh-TW" altLang="en-US" sz="1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23007"/>
            <a:ext cx="2952328" cy="62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812360" y="6309320"/>
            <a:ext cx="11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(1/10</a:t>
            </a:r>
            <a:r>
              <a:rPr lang="en-US" altLang="zh-TW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667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b="1" dirty="0">
                <a:latin typeface="+mn-ea"/>
              </a:rPr>
              <a:t>Source Code </a:t>
            </a:r>
            <a:r>
              <a:rPr lang="en-US" altLang="zh-TW" sz="4400" b="1" dirty="0" smtClean="0">
                <a:latin typeface="+mn-ea"/>
              </a:rPr>
              <a:t>Generator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D:\InterviewData\Image\sourcegen-說明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60" y="1517556"/>
            <a:ext cx="8675272" cy="422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7596336" y="6309320"/>
            <a:ext cx="13498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(8/10</a:t>
            </a:r>
            <a:r>
              <a:rPr lang="en-US" altLang="zh-TW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225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5656" y="188640"/>
            <a:ext cx="7498080" cy="1143000"/>
          </a:xfrm>
        </p:spPr>
        <p:txBody>
          <a:bodyPr/>
          <a:lstStyle/>
          <a:p>
            <a:r>
              <a:rPr lang="zh-TW" altLang="en-US" dirty="0" smtClean="0"/>
              <a:t>動態文件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052736"/>
            <a:ext cx="7283984" cy="5488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953093" y="6488668"/>
            <a:ext cx="1205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(9/10</a:t>
            </a:r>
            <a:r>
              <a:rPr lang="en-US" altLang="zh-TW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117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F:\workspace\Full\文件\簡報\簡報資料\前後端開發流程圖-單流程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7911852" cy="479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7812360" y="6309320"/>
            <a:ext cx="11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(5/10</a:t>
            </a:r>
            <a:r>
              <a:rPr lang="en-US" altLang="zh-TW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168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800"/>
            <a:ext cx="4585330" cy="405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528" y="548680"/>
            <a:ext cx="3064384" cy="603656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UI/Wire Flow</a:t>
            </a:r>
            <a:endParaRPr lang="zh-TW" altLang="en-US" dirty="0"/>
          </a:p>
        </p:txBody>
      </p:sp>
      <p:pic>
        <p:nvPicPr>
          <p:cNvPr id="4" name="Picture 2" descr="F:\workspace\Full\文件\簡報\簡報資料\dataflow diagr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733872"/>
            <a:ext cx="4100934" cy="602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4932040" y="97424"/>
            <a:ext cx="3064384" cy="603656"/>
          </a:xfrm>
          <a:prstGeom prst="rect">
            <a:avLst/>
          </a:prstGeom>
        </p:spPr>
        <p:txBody>
          <a:bodyPr anchor="ctr">
            <a:normAutofit fontScale="7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TW" dirty="0" smtClean="0"/>
              <a:t>UML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DataFlow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812360" y="6309320"/>
            <a:ext cx="11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4" action="ppaction://hlinksldjump"/>
              </a:rPr>
              <a:t>Top</a:t>
            </a:r>
            <a:r>
              <a:rPr lang="en-US" altLang="zh-TW" u="sng" dirty="0" smtClean="0"/>
              <a:t>(7/10</a:t>
            </a:r>
            <a:r>
              <a:rPr lang="en-US" altLang="zh-TW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829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辨識畫面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812360" y="6309320"/>
            <a:ext cx="11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2" action="ppaction://hlinksldjump"/>
              </a:rPr>
              <a:t>Top</a:t>
            </a:r>
            <a:r>
              <a:rPr lang="en-US" altLang="zh-TW" u="sng" dirty="0" smtClean="0"/>
              <a:t>(4/10</a:t>
            </a:r>
            <a:r>
              <a:rPr lang="en-US" altLang="zh-TW" u="sng" dirty="0"/>
              <a:t>)</a:t>
            </a:r>
          </a:p>
        </p:txBody>
      </p:sp>
      <p:pic>
        <p:nvPicPr>
          <p:cNvPr id="3074" name="Picture 2" descr="C:\Users\gary8\Source\Repos\InterviewData\Image\ICAM辨識頁面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844824"/>
            <a:ext cx="6553200" cy="422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81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59832" y="523007"/>
            <a:ext cx="5944704" cy="620109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HP - Keyboard identifier - Yolo AI Model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43608" y="1447800"/>
            <a:ext cx="7890080" cy="4800600"/>
          </a:xfrm>
        </p:spPr>
        <p:txBody>
          <a:bodyPr>
            <a:noAutofit/>
          </a:bodyPr>
          <a:lstStyle/>
          <a:p>
            <a:endParaRPr lang="en-US" altLang="zh-TW" sz="1800" dirty="0"/>
          </a:p>
          <a:p>
            <a:endParaRPr lang="en-US" altLang="zh-TW" sz="1800" dirty="0" smtClean="0"/>
          </a:p>
          <a:p>
            <a:r>
              <a:rPr lang="en-US" altLang="zh-TW" sz="1800" dirty="0" smtClean="0"/>
              <a:t>Situation</a:t>
            </a:r>
            <a:r>
              <a:rPr lang="en-US" altLang="zh-TW" sz="1800" dirty="0"/>
              <a:t>: Manual pixel coordinate calculation was required whenever a new keyboard layout was added, consuming excessive time during UI development.</a:t>
            </a:r>
          </a:p>
          <a:p>
            <a:r>
              <a:rPr lang="en-US" altLang="zh-TW" sz="1800" dirty="0" smtClean="0"/>
              <a:t>Target</a:t>
            </a:r>
            <a:r>
              <a:rPr lang="en-US" altLang="zh-TW" sz="1800" dirty="0"/>
              <a:t>: Automate coordinate extraction using AI to accelerate interface adjustment and reduce repetitive work.</a:t>
            </a:r>
          </a:p>
          <a:p>
            <a:r>
              <a:rPr lang="en-US" altLang="zh-TW" sz="1800" dirty="0" smtClean="0"/>
              <a:t>Actions</a:t>
            </a:r>
            <a:r>
              <a:rPr lang="en-US" altLang="zh-TW" sz="1800" dirty="0"/>
              <a:t>:</a:t>
            </a:r>
          </a:p>
          <a:p>
            <a:pPr lvl="1"/>
            <a:r>
              <a:rPr lang="en-US" altLang="zh-TW" sz="1100" dirty="0" smtClean="0"/>
              <a:t>Defined </a:t>
            </a:r>
            <a:r>
              <a:rPr lang="en-US" altLang="zh-TW" sz="1100" dirty="0"/>
              <a:t>SDD workflow and specifications for AI-driven automation.</a:t>
            </a:r>
          </a:p>
          <a:p>
            <a:pPr lvl="1"/>
            <a:r>
              <a:rPr lang="en-US" altLang="zh-TW" sz="1100" dirty="0" smtClean="0"/>
              <a:t>Conducted </a:t>
            </a:r>
            <a:r>
              <a:rPr lang="en-US" altLang="zh-TW" sz="1100" dirty="0"/>
              <a:t>data labeling, preprocessing, model training, and post-processing using YOLO.</a:t>
            </a:r>
          </a:p>
          <a:p>
            <a:pPr lvl="1"/>
            <a:r>
              <a:rPr lang="en-US" altLang="zh-TW" sz="1100" dirty="0" smtClean="0"/>
              <a:t>Generated </a:t>
            </a:r>
            <a:r>
              <a:rPr lang="en-US" altLang="zh-TW" sz="1100" dirty="0"/>
              <a:t>mapping tables and auto-converted them into source code for embedding.</a:t>
            </a:r>
          </a:p>
          <a:p>
            <a:pPr lvl="1"/>
            <a:r>
              <a:rPr lang="en-US" altLang="zh-TW" sz="1100" dirty="0" smtClean="0"/>
              <a:t>Composed </a:t>
            </a:r>
            <a:r>
              <a:rPr lang="en-US" altLang="zh-TW" sz="1100" dirty="0"/>
              <a:t>proposal and demonstrated proof-of-concept to the team.</a:t>
            </a:r>
          </a:p>
          <a:p>
            <a:r>
              <a:rPr lang="en-US" altLang="zh-TW" sz="1800" dirty="0" smtClean="0"/>
              <a:t>Results</a:t>
            </a:r>
            <a:r>
              <a:rPr lang="en-US" altLang="zh-TW" sz="1800" dirty="0"/>
              <a:t>: Reduced layout adjustment time drastically by eliminating manual coordinate measurement and achieved consistent data accuracy across layout variants.</a:t>
            </a:r>
          </a:p>
          <a:p>
            <a:endParaRPr lang="zh-TW" altLang="en-US" sz="1800" dirty="0"/>
          </a:p>
        </p:txBody>
      </p:sp>
      <p:sp>
        <p:nvSpPr>
          <p:cNvPr id="6" name="矩形 5"/>
          <p:cNvSpPr/>
          <p:nvPr/>
        </p:nvSpPr>
        <p:spPr>
          <a:xfrm>
            <a:off x="7812360" y="6309320"/>
            <a:ext cx="11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2" action="ppaction://hlinksldjump"/>
              </a:rPr>
              <a:t>Top</a:t>
            </a:r>
            <a:r>
              <a:rPr lang="en-US" altLang="zh-TW" u="sng" dirty="0" smtClean="0"/>
              <a:t>(1/10</a:t>
            </a:r>
            <a:r>
              <a:rPr lang="en-US" altLang="zh-TW" u="sng" dirty="0"/>
              <a:t>)</a:t>
            </a:r>
          </a:p>
        </p:txBody>
      </p:sp>
      <p:pic>
        <p:nvPicPr>
          <p:cNvPr id="1026" name="Picture 2" descr="C:\Users\gary8\Pictures\Screenshots\螢幕擷取畫面 2025-09-01 21322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04664"/>
            <a:ext cx="921323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3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 descr="C:\Users\gary8\source\repos\FINDKEY\runs\detect\predict\US_87_KE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89040"/>
            <a:ext cx="9099024" cy="290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gary8\source\repos\FINDKEY\bin\yolo\dataset\test\images\US_87_KE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89" y="260648"/>
            <a:ext cx="9466170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37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F1-Confidence</a:t>
            </a:r>
            <a:r>
              <a:rPr lang="zh-TW" altLang="en-US" b="1" dirty="0"/>
              <a:t>曲線</a:t>
            </a:r>
          </a:p>
          <a:p>
            <a:r>
              <a:rPr lang="zh-TW" altLang="en-US" b="1" dirty="0"/>
              <a:t>橫軸</a:t>
            </a:r>
            <a:r>
              <a:rPr lang="zh-TW" altLang="en-US" dirty="0"/>
              <a:t>：</a:t>
            </a:r>
            <a:r>
              <a:rPr lang="en-US" altLang="zh-TW" dirty="0"/>
              <a:t>Confidence</a:t>
            </a:r>
            <a:r>
              <a:rPr lang="zh-TW" altLang="en-US" dirty="0"/>
              <a:t>閾值（</a:t>
            </a:r>
            <a:r>
              <a:rPr lang="en-US" altLang="zh-TW" dirty="0"/>
              <a:t>0-1</a:t>
            </a:r>
            <a:r>
              <a:rPr lang="zh-TW" altLang="en-US" dirty="0"/>
              <a:t>）</a:t>
            </a:r>
          </a:p>
          <a:p>
            <a:r>
              <a:rPr lang="zh-TW" altLang="en-US" b="1" dirty="0"/>
              <a:t>縱軸</a:t>
            </a:r>
            <a:r>
              <a:rPr lang="zh-TW" altLang="en-US" dirty="0"/>
              <a:t>：</a:t>
            </a:r>
            <a:r>
              <a:rPr lang="en-US" altLang="zh-TW" dirty="0"/>
              <a:t>F1</a:t>
            </a:r>
            <a:r>
              <a:rPr lang="zh-TW" altLang="en-US" dirty="0"/>
              <a:t>分數（</a:t>
            </a:r>
            <a:r>
              <a:rPr lang="en-US" altLang="zh-TW" dirty="0"/>
              <a:t>0-1</a:t>
            </a:r>
            <a:r>
              <a:rPr lang="zh-TW" altLang="en-US" dirty="0"/>
              <a:t>）</a:t>
            </a:r>
          </a:p>
          <a:p>
            <a:r>
              <a:rPr lang="zh-TW" altLang="en-US" b="1" dirty="0"/>
              <a:t>藍線</a:t>
            </a:r>
            <a:r>
              <a:rPr lang="zh-TW" altLang="en-US" dirty="0"/>
              <a:t>：</a:t>
            </a:r>
            <a:r>
              <a:rPr lang="en-US" altLang="zh-TW" dirty="0"/>
              <a:t>overall F1=0.96 at </a:t>
            </a:r>
            <a:r>
              <a:rPr lang="en-US" altLang="zh-TW" dirty="0" err="1"/>
              <a:t>conf</a:t>
            </a:r>
            <a:r>
              <a:rPr lang="en-US" altLang="zh-TW" dirty="0"/>
              <a:t>=0.55</a:t>
            </a:r>
          </a:p>
          <a:p>
            <a:r>
              <a:rPr lang="zh-TW" altLang="en-US" b="1" dirty="0"/>
              <a:t>意義</a:t>
            </a:r>
            <a:r>
              <a:rPr lang="zh-TW" altLang="en-US" dirty="0"/>
              <a:t>：在</a:t>
            </a:r>
            <a:r>
              <a:rPr lang="en-US" altLang="zh-TW" dirty="0"/>
              <a:t>confidence=0.55</a:t>
            </a:r>
            <a:r>
              <a:rPr lang="zh-TW" altLang="en-US" dirty="0"/>
              <a:t>時，模型達到最佳</a:t>
            </a:r>
            <a:r>
              <a:rPr lang="en-US" altLang="zh-TW" dirty="0"/>
              <a:t>F1</a:t>
            </a:r>
            <a:r>
              <a:rPr lang="zh-TW" altLang="en-US" dirty="0"/>
              <a:t>平衡點</a:t>
            </a:r>
          </a:p>
          <a:p>
            <a:endParaRPr lang="zh-TW" altLang="en-US" dirty="0"/>
          </a:p>
        </p:txBody>
      </p:sp>
      <p:pic>
        <p:nvPicPr>
          <p:cNvPr id="3074" name="Picture 2" descr="C:\Users\gary8\source\repos\FINDKEY\runs\detect\train0523-5接續訓練200次 共500次趨近完成\F1_curv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20688"/>
            <a:ext cx="8229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65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76672"/>
            <a:ext cx="6840760" cy="621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059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Side Project :  </a:t>
            </a:r>
            <a:r>
              <a:rPr lang="en-US" altLang="zh-TW" dirty="0" err="1" smtClean="0"/>
              <a:t>TeaOrFish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607" y="404664"/>
            <a:ext cx="1052263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461944"/>
            <a:ext cx="2284843" cy="494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331640" y="1385302"/>
            <a:ext cx="4237836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50" dirty="0"/>
              <a:t>起初只是</a:t>
            </a:r>
            <a:r>
              <a:rPr lang="en-US" altLang="zh-TW" sz="1050" dirty="0"/>
              <a:t>2020</a:t>
            </a:r>
            <a:r>
              <a:rPr lang="zh-TW" altLang="en-US" sz="1050" dirty="0"/>
              <a:t>年股市大多頭，用配爬蟲與</a:t>
            </a:r>
            <a:r>
              <a:rPr lang="en-US" altLang="zh-TW" sz="1050" dirty="0"/>
              <a:t>LINE</a:t>
            </a:r>
            <a:r>
              <a:rPr lang="zh-TW" altLang="en-US" sz="1050" dirty="0"/>
              <a:t>聊天機器人，滿足想上班偷查詢即時股價的需求。</a:t>
            </a:r>
          </a:p>
          <a:p>
            <a:r>
              <a:rPr lang="zh-TW" altLang="en-US" sz="1050" dirty="0"/>
              <a:t>同時作為實驗平台，後續升級</a:t>
            </a:r>
            <a:r>
              <a:rPr lang="en-US" altLang="zh-TW" sz="1050" dirty="0"/>
              <a:t>CICD </a:t>
            </a:r>
            <a:r>
              <a:rPr lang="zh-TW" altLang="en-US" sz="1050" dirty="0"/>
              <a:t>容器化 生程式</a:t>
            </a:r>
            <a:r>
              <a:rPr lang="en-US" altLang="zh-TW" sz="1050" dirty="0"/>
              <a:t>AI API </a:t>
            </a:r>
            <a:r>
              <a:rPr lang="zh-TW" altLang="en-US" sz="1050" dirty="0"/>
              <a:t>功能 並用免費額度部署到</a:t>
            </a:r>
            <a:r>
              <a:rPr lang="en-US" altLang="zh-TW" sz="1050" dirty="0"/>
              <a:t>AWS</a:t>
            </a:r>
            <a:r>
              <a:rPr lang="zh-TW" altLang="en-US" sz="1050" dirty="0"/>
              <a:t>上。</a:t>
            </a:r>
          </a:p>
          <a:p>
            <a:endParaRPr lang="en-US" altLang="zh-TW" sz="1050" dirty="0" smtClean="0">
              <a:latin typeface="+mn-ea"/>
            </a:endParaRPr>
          </a:p>
          <a:p>
            <a:r>
              <a:rPr lang="en-US" altLang="zh-TW" sz="1050" dirty="0"/>
              <a:t>Skills: </a:t>
            </a:r>
            <a:endParaRPr lang="en-US" altLang="zh-TW" sz="1050" dirty="0" smtClean="0"/>
          </a:p>
          <a:p>
            <a:r>
              <a:rPr lang="en-US" altLang="zh-TW" sz="1050" dirty="0" smtClean="0"/>
              <a:t>Python </a:t>
            </a:r>
            <a:r>
              <a:rPr lang="en-US" altLang="zh-TW" sz="1050" dirty="0" err="1"/>
              <a:t>linebot</a:t>
            </a:r>
            <a:r>
              <a:rPr lang="en-US" altLang="zh-TW" sz="1050" dirty="0"/>
              <a:t> </a:t>
            </a:r>
            <a:r>
              <a:rPr lang="en-US" altLang="zh-TW" sz="1050" dirty="0" err="1"/>
              <a:t>OpenAI</a:t>
            </a:r>
            <a:r>
              <a:rPr lang="en-US" altLang="zh-TW" sz="1050" dirty="0"/>
              <a:t> API </a:t>
            </a:r>
            <a:r>
              <a:rPr lang="en-US" altLang="zh-TW" sz="1050" dirty="0" err="1"/>
              <a:t>MongoDB</a:t>
            </a:r>
            <a:r>
              <a:rPr lang="en-US" altLang="zh-TW" sz="1050" dirty="0"/>
              <a:t> web Crawler </a:t>
            </a:r>
            <a:r>
              <a:rPr lang="en-US" altLang="zh-TW" sz="1050" dirty="0" err="1"/>
              <a:t>Docker</a:t>
            </a:r>
            <a:r>
              <a:rPr lang="en-US" altLang="zh-TW" sz="1050" dirty="0"/>
              <a:t> </a:t>
            </a:r>
            <a:r>
              <a:rPr lang="en-US" altLang="zh-TW" sz="1050" dirty="0" err="1"/>
              <a:t>Nginx</a:t>
            </a:r>
            <a:r>
              <a:rPr lang="en-US" altLang="zh-TW" sz="1050" dirty="0"/>
              <a:t> Jenkins AWS-IAM/VPC/EC2/S3/Route </a:t>
            </a:r>
            <a:r>
              <a:rPr lang="en-US" altLang="zh-TW" sz="1050" dirty="0" smtClean="0"/>
              <a:t>53</a:t>
            </a:r>
          </a:p>
          <a:p>
            <a:endParaRPr lang="en-US" altLang="zh-TW" sz="1050" dirty="0"/>
          </a:p>
          <a:p>
            <a:r>
              <a:rPr lang="zh-TW" altLang="en-US" sz="1050" dirty="0"/>
              <a:t>功能</a:t>
            </a:r>
            <a:r>
              <a:rPr lang="en-US" altLang="zh-TW" sz="1050" dirty="0" smtClean="0"/>
              <a:t>:</a:t>
            </a:r>
          </a:p>
          <a:p>
            <a:r>
              <a:rPr lang="en-US" altLang="zh-TW" sz="1050" dirty="0" smtClean="0"/>
              <a:t> </a:t>
            </a:r>
            <a:r>
              <a:rPr lang="en-US" altLang="zh-TW" sz="1050" dirty="0"/>
              <a:t>Newest PTT Link / </a:t>
            </a:r>
            <a:r>
              <a:rPr lang="en-US" altLang="zh-TW" sz="1050" dirty="0" err="1"/>
              <a:t>Linebot</a:t>
            </a:r>
            <a:r>
              <a:rPr lang="en-US" altLang="zh-TW" sz="1050" dirty="0"/>
              <a:t> / </a:t>
            </a:r>
            <a:r>
              <a:rPr lang="zh-TW" altLang="en-US" sz="1050" dirty="0"/>
              <a:t>當前股價查詢功能 </a:t>
            </a:r>
            <a:r>
              <a:rPr lang="en-US" altLang="zh-TW" sz="1050" dirty="0"/>
              <a:t>/ </a:t>
            </a:r>
            <a:r>
              <a:rPr lang="en-US" altLang="zh-TW" sz="1050" dirty="0" err="1"/>
              <a:t>ChatGPT</a:t>
            </a:r>
            <a:r>
              <a:rPr lang="en-US" altLang="zh-TW" sz="1050" dirty="0"/>
              <a:t>(</a:t>
            </a:r>
            <a:r>
              <a:rPr lang="zh-TW" altLang="en-US" sz="1050" dirty="0"/>
              <a:t>不定時開放功能</a:t>
            </a:r>
            <a:r>
              <a:rPr lang="en-US" altLang="zh-TW" sz="1050" dirty="0"/>
              <a:t>)</a:t>
            </a:r>
          </a:p>
          <a:p>
            <a:endParaRPr lang="en-US" altLang="zh-TW" sz="1050" dirty="0">
              <a:latin typeface="+mn-ea"/>
            </a:endParaRPr>
          </a:p>
          <a:p>
            <a:endParaRPr lang="en-US" altLang="zh-TW" sz="1050" dirty="0" smtClean="0">
              <a:latin typeface="+mn-ea"/>
            </a:endParaRPr>
          </a:p>
          <a:p>
            <a:endParaRPr lang="en-US" altLang="zh-TW" sz="1050" dirty="0">
              <a:latin typeface="+mn-ea"/>
            </a:endParaRPr>
          </a:p>
          <a:p>
            <a:endParaRPr lang="en-US" altLang="zh-TW" sz="1050" dirty="0" smtClean="0">
              <a:latin typeface="+mn-ea"/>
            </a:endParaRPr>
          </a:p>
          <a:p>
            <a:endParaRPr lang="en-US" altLang="zh-TW" sz="1050" dirty="0">
              <a:latin typeface="+mn-ea"/>
            </a:endParaRPr>
          </a:p>
          <a:p>
            <a:endParaRPr lang="en-US" altLang="zh-TW" sz="1050" dirty="0" smtClean="0">
              <a:latin typeface="+mn-ea"/>
            </a:endParaRPr>
          </a:p>
          <a:p>
            <a:endParaRPr lang="en-US" altLang="zh-TW" sz="1050" dirty="0">
              <a:latin typeface="+mn-ea"/>
            </a:endParaRPr>
          </a:p>
          <a:p>
            <a:endParaRPr lang="en-US" altLang="zh-TW" sz="1050" dirty="0">
              <a:latin typeface="+mn-ea"/>
            </a:endParaRPr>
          </a:p>
          <a:p>
            <a:r>
              <a:rPr lang="en-US" altLang="zh-TW" sz="1050" dirty="0" err="1"/>
              <a:t>Linebot</a:t>
            </a:r>
            <a:r>
              <a:rPr lang="en-US" altLang="zh-TW" sz="1050" dirty="0"/>
              <a:t> ID : @320swnwx</a:t>
            </a:r>
          </a:p>
          <a:p>
            <a:r>
              <a:rPr lang="en-US" altLang="zh-TW" sz="1050" dirty="0"/>
              <a:t>Service1 </a:t>
            </a:r>
            <a:r>
              <a:rPr lang="en-US" altLang="zh-TW" sz="1050" dirty="0">
                <a:hlinkClick r:id="rId4"/>
              </a:rPr>
              <a:t>https://github.com/YiFan0221/TeaOrFish</a:t>
            </a:r>
            <a:endParaRPr lang="en-US" altLang="zh-TW" sz="1050" dirty="0"/>
          </a:p>
          <a:p>
            <a:r>
              <a:rPr lang="en-US" altLang="zh-TW" sz="1050" dirty="0"/>
              <a:t>Service2 </a:t>
            </a:r>
            <a:r>
              <a:rPr lang="en-US" altLang="zh-TW" sz="1050" dirty="0">
                <a:hlinkClick r:id="rId5"/>
              </a:rPr>
              <a:t>https://</a:t>
            </a:r>
            <a:r>
              <a:rPr lang="en-US" altLang="zh-TW" sz="1050" dirty="0" smtClean="0">
                <a:hlinkClick r:id="rId5"/>
              </a:rPr>
              <a:t>github.com/YiFan0221/YiFanServer</a:t>
            </a:r>
            <a:endParaRPr lang="en-US" altLang="zh-TW" sz="1050" dirty="0"/>
          </a:p>
        </p:txBody>
      </p:sp>
      <p:sp>
        <p:nvSpPr>
          <p:cNvPr id="11" name="矩形 10"/>
          <p:cNvSpPr/>
          <p:nvPr/>
        </p:nvSpPr>
        <p:spPr>
          <a:xfrm>
            <a:off x="7956376" y="6309320"/>
            <a:ext cx="989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6" action="ppaction://hlinksldjump"/>
              </a:rPr>
              <a:t>Top</a:t>
            </a:r>
            <a:r>
              <a:rPr lang="en-US" altLang="zh-TW" u="sng" dirty="0" smtClean="0"/>
              <a:t>(1/2)</a:t>
            </a:r>
            <a:endParaRPr lang="en-US" altLang="zh-TW" u="sng" dirty="0"/>
          </a:p>
        </p:txBody>
      </p:sp>
    </p:spTree>
    <p:extLst>
      <p:ext uri="{BB962C8B-B14F-4D97-AF65-F5344CB8AC3E}">
        <p14:creationId xmlns:p14="http://schemas.microsoft.com/office/powerpoint/2010/main" val="117713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MVC</a:t>
            </a:r>
            <a:r>
              <a:rPr lang="zh-TW" altLang="en-US" dirty="0" smtClean="0"/>
              <a:t>分層</a:t>
            </a:r>
            <a:endParaRPr lang="en-US" altLang="zh-TW" dirty="0" smtClean="0"/>
          </a:p>
          <a:p>
            <a:r>
              <a:rPr lang="en-US" altLang="zh-TW" dirty="0" smtClean="0"/>
              <a:t>Main/Sub Service</a:t>
            </a:r>
          </a:p>
          <a:p>
            <a:r>
              <a:rPr lang="en-US" altLang="zh-TW" dirty="0" smtClean="0"/>
              <a:t>CI/CD</a:t>
            </a:r>
          </a:p>
          <a:p>
            <a:r>
              <a:rPr lang="en-US" altLang="zh-TW" dirty="0" smtClean="0"/>
              <a:t>Container deploy</a:t>
            </a:r>
          </a:p>
          <a:p>
            <a:r>
              <a:rPr lang="en-US" altLang="zh-TW" dirty="0" smtClean="0"/>
              <a:t>Load balance</a:t>
            </a:r>
          </a:p>
          <a:p>
            <a:r>
              <a:rPr lang="en-US" altLang="zh-TW" dirty="0" smtClean="0"/>
              <a:t>Horizontal scale</a:t>
            </a:r>
          </a:p>
        </p:txBody>
      </p:sp>
      <p:pic>
        <p:nvPicPr>
          <p:cNvPr id="15363" name="Picture 3" descr="F:\workspace\Full\文件\簡報\簡報資料\系統架構圖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117" y="404664"/>
            <a:ext cx="4007170" cy="595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7740352" y="6309320"/>
            <a:ext cx="1205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u="sng" dirty="0" smtClean="0">
                <a:hlinkClick r:id="rId3" action="ppaction://hlinksldjump"/>
              </a:rPr>
              <a:t>Top</a:t>
            </a:r>
            <a:r>
              <a:rPr lang="en-US" altLang="zh-TW" u="sng" dirty="0" smtClean="0"/>
              <a:t>(2/2</a:t>
            </a:r>
            <a:r>
              <a:rPr lang="en-US" altLang="zh-TW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874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謝謝收聽</a:t>
            </a:r>
            <a:r>
              <a:rPr lang="en-US" altLang="zh-TW" dirty="0" smtClean="0"/>
              <a:t>/</a:t>
            </a:r>
            <a:r>
              <a:rPr lang="zh-TW" altLang="en-US" dirty="0" smtClean="0"/>
              <a:t>看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pPr algn="r"/>
            <a:r>
              <a:rPr lang="en-US" altLang="zh-TW" dirty="0" smtClean="0"/>
              <a:t>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984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8138</TotalTime>
  <Words>1265</Words>
  <Application>Microsoft Office PowerPoint</Application>
  <PresentationFormat>如螢幕大小 (4:3)</PresentationFormat>
  <Paragraphs>221</Paragraphs>
  <Slides>33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4" baseType="lpstr">
      <vt:lpstr>夏至</vt:lpstr>
      <vt:lpstr>個人簡報</vt:lpstr>
      <vt:lpstr>總覽</vt:lpstr>
      <vt:lpstr>[公司][專案名稱]</vt:lpstr>
      <vt:lpstr>    綠捷能智控 -車輛逆行偵測專案</vt:lpstr>
      <vt:lpstr>刊登頁面: 國道視窗 - 國道5號蘇澳交流道出口增設逆行車輛偵測 </vt:lpstr>
      <vt:lpstr>PowerPoint 簡報</vt:lpstr>
      <vt:lpstr>Multi detection wrong-way system of  Taiwan Freeway No. 5.</vt:lpstr>
      <vt:lpstr>PowerPoint 簡報</vt:lpstr>
      <vt:lpstr>綠捷能智控 - 休息站停車場車輛計數</vt:lpstr>
      <vt:lpstr>PowerPoint 簡報</vt:lpstr>
      <vt:lpstr>惠特科技  Probe - Motion 3-Axis system 升級案</vt:lpstr>
      <vt:lpstr>photonics automation</vt:lpstr>
      <vt:lpstr>Develop motion system(linear)</vt:lpstr>
      <vt:lpstr>Needle trace</vt:lpstr>
      <vt:lpstr>auto loading wafer cassette</vt:lpstr>
      <vt:lpstr>     惠特科技 - Probe - Vision CCD</vt:lpstr>
      <vt:lpstr>PowerPoint 簡報</vt:lpstr>
      <vt:lpstr>Probe - source meter 主從架構優化案</vt:lpstr>
      <vt:lpstr>              三商電腦-台北捷運萬大線車站軟韌體</vt:lpstr>
      <vt:lpstr>PowerPoint 簡報</vt:lpstr>
      <vt:lpstr>   Nvidia jetson platform 串流與使用者介面</vt:lpstr>
      <vt:lpstr>Source Code Generator</vt:lpstr>
      <vt:lpstr>動態文件</vt:lpstr>
      <vt:lpstr>PowerPoint 簡報</vt:lpstr>
      <vt:lpstr>UI/Wire Flow</vt:lpstr>
      <vt:lpstr>辨識畫面</vt:lpstr>
      <vt:lpstr>HP - Keyboard identifier - Yolo AI Model</vt:lpstr>
      <vt:lpstr>PowerPoint 簡報</vt:lpstr>
      <vt:lpstr>PowerPoint 簡報</vt:lpstr>
      <vt:lpstr>PowerPoint 簡報</vt:lpstr>
      <vt:lpstr>Side Project :  TeaOrFish</vt:lpstr>
      <vt:lpstr>Architecture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財團法人船舶暨海洋產業研發中心</dc:title>
  <dc:creator>許逸帆</dc:creator>
  <cp:lastModifiedBy>許逸帆</cp:lastModifiedBy>
  <cp:revision>270</cp:revision>
  <cp:lastPrinted>2026-08-27T05:03:28Z</cp:lastPrinted>
  <dcterms:created xsi:type="dcterms:W3CDTF">2021-07-06T08:25:44Z</dcterms:created>
  <dcterms:modified xsi:type="dcterms:W3CDTF">2026-09-11T18:22:22Z</dcterms:modified>
</cp:coreProperties>
</file>